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2" r:id="rId6"/>
    <p:sldId id="260" r:id="rId7"/>
    <p:sldId id="261" r:id="rId8"/>
    <p:sldId id="262" r:id="rId9"/>
    <p:sldId id="273" r:id="rId10"/>
    <p:sldId id="263" r:id="rId11"/>
    <p:sldId id="264" r:id="rId12"/>
    <p:sldId id="274" r:id="rId13"/>
    <p:sldId id="265" r:id="rId14"/>
    <p:sldId id="266" r:id="rId15"/>
    <p:sldId id="275" r:id="rId16"/>
    <p:sldId id="267" r:id="rId17"/>
    <p:sldId id="268" r:id="rId18"/>
    <p:sldId id="276" r:id="rId19"/>
    <p:sldId id="269" r:id="rId20"/>
    <p:sldId id="270" r:id="rId21"/>
    <p:sldId id="277" r:id="rId22"/>
    <p:sldId id="271" r:id="rId23"/>
    <p:sldId id="279" r:id="rId24"/>
    <p:sldId id="278"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9" autoAdjust="0"/>
    <p:restoredTop sz="94660"/>
  </p:normalViewPr>
  <p:slideViewPr>
    <p:cSldViewPr snapToGrid="0">
      <p:cViewPr varScale="1">
        <p:scale>
          <a:sx n="65" d="100"/>
          <a:sy n="65" d="100"/>
        </p:scale>
        <p:origin x="9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9F1CB-211C-85E3-0802-751E0763EA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B47768-ECE0-6424-44F4-A248CC1416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DFAAD-30AA-795B-6A5F-F6F92D49059D}"/>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5" name="Footer Placeholder 4">
            <a:extLst>
              <a:ext uri="{FF2B5EF4-FFF2-40B4-BE49-F238E27FC236}">
                <a16:creationId xmlns:a16="http://schemas.microsoft.com/office/drawing/2014/main" id="{889FF24D-37BB-508F-1E9D-D0FA77CC8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12A66F-0BD4-994A-C691-7CDA3704A361}"/>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38714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32FED-D1FC-0394-0533-8C3B0017B9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6D574-7F41-12E5-2E45-993F30C3C1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5A84B0-72EF-4D61-72CF-17BD0A8A4F8F}"/>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5" name="Footer Placeholder 4">
            <a:extLst>
              <a:ext uri="{FF2B5EF4-FFF2-40B4-BE49-F238E27FC236}">
                <a16:creationId xmlns:a16="http://schemas.microsoft.com/office/drawing/2014/main" id="{96296AEF-7944-417A-CFD0-B4E1ACBA7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78BDB-A493-C3A3-8C00-6150C7C8D552}"/>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2815635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42428-5D6F-6480-CD19-6F9CE4AFB8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4F2E28-A549-F36C-FD9C-B75C2C6952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349AA8-F51C-9F77-416D-E288EC9B6660}"/>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5" name="Footer Placeholder 4">
            <a:extLst>
              <a:ext uri="{FF2B5EF4-FFF2-40B4-BE49-F238E27FC236}">
                <a16:creationId xmlns:a16="http://schemas.microsoft.com/office/drawing/2014/main" id="{90A828D4-FC0A-E48C-1088-981222C7C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83B032-9D17-188F-8BD0-78AFA118CBA3}"/>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2303699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51E0-AC94-AFA0-2EF8-C6F2CA8AE0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6FEC57-1E71-79E3-5E3B-A4F4CFB3E6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7E5BAF-481F-DBEE-6523-25B079D84A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72D404-A4A7-B930-343F-CBCFA2BE7B40}"/>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6" name="Footer Placeholder 5">
            <a:extLst>
              <a:ext uri="{FF2B5EF4-FFF2-40B4-BE49-F238E27FC236}">
                <a16:creationId xmlns:a16="http://schemas.microsoft.com/office/drawing/2014/main" id="{B20AFA88-E584-19C3-537D-455A720BA8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577ED-D59B-4E92-A326-EDAF9C54C520}"/>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225880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A46C8-581F-9BC7-4E58-7642C053F7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47A5FF-42EA-2628-93CF-BE95BE4142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0EF932-0E6C-0DE3-902B-B70B31A016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63D031-E295-C5F9-065B-488824FD0F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BC919A-662D-F52D-9F95-87F8FCA82F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CD1E26-F648-EB91-3AFF-4DA3AD50694D}"/>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8" name="Footer Placeholder 7">
            <a:extLst>
              <a:ext uri="{FF2B5EF4-FFF2-40B4-BE49-F238E27FC236}">
                <a16:creationId xmlns:a16="http://schemas.microsoft.com/office/drawing/2014/main" id="{65366FBB-6B3C-287B-4252-4D8BCF5AF4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BCFFC8-4251-C037-5609-520510A93E8A}"/>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3157446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E44B1-8BC0-688D-3CD2-2736D9E4CB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3D9D07-5576-093A-A6F0-135B7A171FEF}"/>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4" name="Footer Placeholder 3">
            <a:extLst>
              <a:ext uri="{FF2B5EF4-FFF2-40B4-BE49-F238E27FC236}">
                <a16:creationId xmlns:a16="http://schemas.microsoft.com/office/drawing/2014/main" id="{C2BC9386-402B-893D-8EB8-812DAF0739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28A1BE-07F5-4FDA-3BA8-90A358E39AD1}"/>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4270996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3DFF45-6E96-7B8D-66A4-B20A5059B0A9}"/>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3" name="Footer Placeholder 2">
            <a:extLst>
              <a:ext uri="{FF2B5EF4-FFF2-40B4-BE49-F238E27FC236}">
                <a16:creationId xmlns:a16="http://schemas.microsoft.com/office/drawing/2014/main" id="{23FF3503-40FF-E3B1-3836-846521B50F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CA2C48-9F2F-BDBC-EA16-DF5293F444A3}"/>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3743729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6C97C-455B-FCD4-53D5-64CD37AF2D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CC3A6D-BB4C-65E7-1C1A-B4857CE906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0550DC-3457-5F5A-A271-F3B9BEAFE8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59FE68-B979-6A77-F4E4-FE2B33D3CB54}"/>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6" name="Footer Placeholder 5">
            <a:extLst>
              <a:ext uri="{FF2B5EF4-FFF2-40B4-BE49-F238E27FC236}">
                <a16:creationId xmlns:a16="http://schemas.microsoft.com/office/drawing/2014/main" id="{113BF314-ED89-5827-EC25-351B5422DA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2BE85E-E745-3BEC-6905-9F3E42E61E8D}"/>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133073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4877-3AC9-CF3D-FB6C-95E25E7E0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2E95D0-457D-2849-CD36-DA36923BA0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D0C314-32AB-0706-2EF2-1C60110022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1DEAFA-13B6-2505-8C63-0BD744F5477C}"/>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6" name="Footer Placeholder 5">
            <a:extLst>
              <a:ext uri="{FF2B5EF4-FFF2-40B4-BE49-F238E27FC236}">
                <a16:creationId xmlns:a16="http://schemas.microsoft.com/office/drawing/2014/main" id="{9114162D-70FB-5E1B-82AC-DCE748D56A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F248B-7CB6-4728-47A5-6E4F957AFFA5}"/>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32856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CFEA-A79D-8992-ACCA-3DCCAD8845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AD1453-F0BE-4B35-BF1D-196E6B5131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813E64-AE40-0FAB-06C8-6756E7B0E235}"/>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5" name="Footer Placeholder 4">
            <a:extLst>
              <a:ext uri="{FF2B5EF4-FFF2-40B4-BE49-F238E27FC236}">
                <a16:creationId xmlns:a16="http://schemas.microsoft.com/office/drawing/2014/main" id="{0AB04533-218D-88E9-B1CE-51E5CB3B03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CC114-5046-A262-F453-346F2E87E06D}"/>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2733415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B1349E-0F95-BDAB-000B-216A06B541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51F80D-A6F4-688E-4443-0F881C0816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5CA81-2D42-23AF-9EAA-CA4D40109915}"/>
              </a:ext>
            </a:extLst>
          </p:cNvPr>
          <p:cNvSpPr>
            <a:spLocks noGrp="1"/>
          </p:cNvSpPr>
          <p:nvPr>
            <p:ph type="dt" sz="half" idx="10"/>
          </p:nvPr>
        </p:nvSpPr>
        <p:spPr/>
        <p:txBody>
          <a:bodyPr/>
          <a:lstStyle/>
          <a:p>
            <a:fld id="{A8AE343B-979E-42D5-853C-895D9B3B7551}" type="datetimeFigureOut">
              <a:rPr lang="en-US" smtClean="0"/>
              <a:t>7/18/2024</a:t>
            </a:fld>
            <a:endParaRPr lang="en-US"/>
          </a:p>
        </p:txBody>
      </p:sp>
      <p:sp>
        <p:nvSpPr>
          <p:cNvPr id="5" name="Footer Placeholder 4">
            <a:extLst>
              <a:ext uri="{FF2B5EF4-FFF2-40B4-BE49-F238E27FC236}">
                <a16:creationId xmlns:a16="http://schemas.microsoft.com/office/drawing/2014/main" id="{734174D5-6447-906A-BCB9-8DCA7D25ED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8D42C5-4533-009E-3FEE-8F24BA5C98A0}"/>
              </a:ext>
            </a:extLst>
          </p:cNvPr>
          <p:cNvSpPr>
            <a:spLocks noGrp="1"/>
          </p:cNvSpPr>
          <p:nvPr>
            <p:ph type="sldNum" sz="quarter" idx="12"/>
          </p:nvPr>
        </p:nvSpPr>
        <p:spPr/>
        <p:txBody>
          <a:bodyPr/>
          <a:lstStyle/>
          <a:p>
            <a:fld id="{E267C288-819F-4D20-9822-A41104E12A98}" type="slidenum">
              <a:rPr lang="en-US" smtClean="0"/>
              <a:t>‹#›</a:t>
            </a:fld>
            <a:endParaRPr lang="en-US"/>
          </a:p>
        </p:txBody>
      </p:sp>
    </p:spTree>
    <p:extLst>
      <p:ext uri="{BB962C8B-B14F-4D97-AF65-F5344CB8AC3E}">
        <p14:creationId xmlns:p14="http://schemas.microsoft.com/office/powerpoint/2010/main" val="1979997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49A1BD-7BBA-61B0-F77A-D0D0C37B6E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4F50FF-BA2F-58EB-2A46-9698B0A059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253194-1450-4FA0-9CBC-85E1A1390A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AE343B-979E-42D5-853C-895D9B3B7551}" type="datetimeFigureOut">
              <a:rPr lang="en-US" smtClean="0"/>
              <a:t>7/18/2024</a:t>
            </a:fld>
            <a:endParaRPr lang="en-US"/>
          </a:p>
        </p:txBody>
      </p:sp>
      <p:sp>
        <p:nvSpPr>
          <p:cNvPr id="5" name="Footer Placeholder 4">
            <a:extLst>
              <a:ext uri="{FF2B5EF4-FFF2-40B4-BE49-F238E27FC236}">
                <a16:creationId xmlns:a16="http://schemas.microsoft.com/office/drawing/2014/main" id="{8ADAED3E-83BE-B2F8-8A64-A5B2C0819F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1046BF-2B2F-9EA2-026B-F8B337487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67C288-819F-4D20-9822-A41104E12A98}" type="slidenum">
              <a:rPr lang="en-US" smtClean="0"/>
              <a:t>‹#›</a:t>
            </a:fld>
            <a:endParaRPr lang="en-US"/>
          </a:p>
        </p:txBody>
      </p:sp>
    </p:spTree>
    <p:extLst>
      <p:ext uri="{BB962C8B-B14F-4D97-AF65-F5344CB8AC3E}">
        <p14:creationId xmlns:p14="http://schemas.microsoft.com/office/powerpoint/2010/main" val="414252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5337B-39A2-A037-99B0-048C71E8F1EC}"/>
              </a:ext>
            </a:extLst>
          </p:cNvPr>
          <p:cNvSpPr>
            <a:spLocks noGrp="1"/>
          </p:cNvSpPr>
          <p:nvPr>
            <p:ph type="ctrTitle"/>
          </p:nvPr>
        </p:nvSpPr>
        <p:spPr/>
        <p:txBody>
          <a:bodyPr/>
          <a:lstStyle/>
          <a:p>
            <a:r>
              <a:rPr lang="en-US" dirty="0"/>
              <a:t>SQL PROJECT</a:t>
            </a:r>
          </a:p>
        </p:txBody>
      </p:sp>
      <p:sp>
        <p:nvSpPr>
          <p:cNvPr id="3" name="Subtitle 2">
            <a:extLst>
              <a:ext uri="{FF2B5EF4-FFF2-40B4-BE49-F238E27FC236}">
                <a16:creationId xmlns:a16="http://schemas.microsoft.com/office/drawing/2014/main" id="{D640DD08-4A9E-9BED-2786-47B335E27014}"/>
              </a:ext>
            </a:extLst>
          </p:cNvPr>
          <p:cNvSpPr>
            <a:spLocks noGrp="1"/>
          </p:cNvSpPr>
          <p:nvPr>
            <p:ph type="subTitle" idx="1"/>
          </p:nvPr>
        </p:nvSpPr>
        <p:spPr/>
        <p:txBody>
          <a:bodyPr/>
          <a:lstStyle/>
          <a:p>
            <a:r>
              <a:rPr lang="en-US" dirty="0"/>
              <a:t>Chukwuemeka Reginald Nkwocha</a:t>
            </a:r>
          </a:p>
        </p:txBody>
      </p:sp>
    </p:spTree>
    <p:extLst>
      <p:ext uri="{BB962C8B-B14F-4D97-AF65-F5344CB8AC3E}">
        <p14:creationId xmlns:p14="http://schemas.microsoft.com/office/powerpoint/2010/main" val="44110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2F426-16C9-9C13-CAAD-E78012BB7E20}"/>
              </a:ext>
            </a:extLst>
          </p:cNvPr>
          <p:cNvSpPr>
            <a:spLocks noGrp="1"/>
          </p:cNvSpPr>
          <p:nvPr>
            <p:ph type="title"/>
          </p:nvPr>
        </p:nvSpPr>
        <p:spPr/>
        <p:txBody>
          <a:bodyPr/>
          <a:lstStyle/>
          <a:p>
            <a:r>
              <a:rPr lang="en-US" dirty="0"/>
              <a:t>Creating the table</a:t>
            </a:r>
          </a:p>
        </p:txBody>
      </p:sp>
      <p:sp>
        <p:nvSpPr>
          <p:cNvPr id="3" name="Content Placeholder 2">
            <a:extLst>
              <a:ext uri="{FF2B5EF4-FFF2-40B4-BE49-F238E27FC236}">
                <a16:creationId xmlns:a16="http://schemas.microsoft.com/office/drawing/2014/main" id="{DF4734C4-AF4E-0867-E13A-DCD124D7A8C2}"/>
              </a:ext>
            </a:extLst>
          </p:cNvPr>
          <p:cNvSpPr>
            <a:spLocks noGrp="1"/>
          </p:cNvSpPr>
          <p:nvPr>
            <p:ph idx="1"/>
          </p:nvPr>
        </p:nvSpPr>
        <p:spPr/>
        <p:txBody>
          <a:bodyPr>
            <a:normAutofit/>
          </a:bodyPr>
          <a:lstStyle/>
          <a:p>
            <a:pPr marL="0" indent="0">
              <a:buNone/>
            </a:pPr>
            <a:r>
              <a:rPr lang="en-US" sz="1600" dirty="0"/>
              <a:t>/* The first step is to create the tables  The IPL_matches1 table and </a:t>
            </a:r>
            <a:r>
              <a:rPr lang="en-US" sz="1600" dirty="0" err="1"/>
              <a:t>ipl_ball</a:t>
            </a:r>
            <a:r>
              <a:rPr lang="en-US" sz="1600" dirty="0"/>
              <a:t> table from the excel csv dataset*/</a:t>
            </a:r>
          </a:p>
          <a:p>
            <a:pPr marL="0" indent="0">
              <a:buNone/>
            </a:pPr>
            <a:r>
              <a:rPr lang="en-US" sz="1600" dirty="0"/>
              <a:t>create table IPL_matches1(    id INT PRIMARY KEY,    city VARCHAR,    date </a:t>
            </a:r>
            <a:r>
              <a:rPr lang="en-US" sz="1600" dirty="0" err="1"/>
              <a:t>DATE</a:t>
            </a:r>
            <a:r>
              <a:rPr lang="en-US" sz="1600" dirty="0"/>
              <a:t>,    </a:t>
            </a:r>
            <a:r>
              <a:rPr lang="en-US" sz="1600" dirty="0" err="1"/>
              <a:t>player_of_match</a:t>
            </a:r>
            <a:r>
              <a:rPr lang="en-US" sz="1600" dirty="0"/>
              <a:t> VARCHAR,    venue VARCHAR,    </a:t>
            </a:r>
            <a:r>
              <a:rPr lang="en-US" sz="1600" dirty="0" err="1"/>
              <a:t>neutral_venue</a:t>
            </a:r>
            <a:r>
              <a:rPr lang="en-US" sz="1600" dirty="0"/>
              <a:t> BOOLEAN,    team1 VARCHAR,    team2 VARCHAR,    </a:t>
            </a:r>
            <a:r>
              <a:rPr lang="en-US" sz="1600" dirty="0" err="1"/>
              <a:t>toss_winner</a:t>
            </a:r>
            <a:r>
              <a:rPr lang="en-US" sz="1600" dirty="0"/>
              <a:t> VARCHAR,    </a:t>
            </a:r>
            <a:r>
              <a:rPr lang="en-US" sz="1600" dirty="0" err="1"/>
              <a:t>toss_decision</a:t>
            </a:r>
            <a:r>
              <a:rPr lang="en-US" sz="1600" dirty="0"/>
              <a:t> VARCHAR,    winner VARCHAR,    result VARCHAR,    </a:t>
            </a:r>
            <a:r>
              <a:rPr lang="en-US" sz="1600" dirty="0" err="1"/>
              <a:t>result_margin</a:t>
            </a:r>
            <a:r>
              <a:rPr lang="en-US" sz="1600" dirty="0"/>
              <a:t> INT,    eliminator VARCHAR,    method VARCHAR,    umpire1 VARCHAR,    umpire2 VARCHAR);</a:t>
            </a:r>
          </a:p>
          <a:p>
            <a:pPr marL="0" indent="0">
              <a:buNone/>
            </a:pPr>
            <a:r>
              <a:rPr lang="en-US" sz="1600" dirty="0"/>
              <a:t>SET </a:t>
            </a:r>
            <a:r>
              <a:rPr lang="en-US" sz="1600" dirty="0" err="1"/>
              <a:t>datestyle</a:t>
            </a:r>
            <a:r>
              <a:rPr lang="en-US" sz="1600" dirty="0"/>
              <a:t> = 'ISO, DMY’;</a:t>
            </a:r>
          </a:p>
          <a:p>
            <a:pPr marL="0" indent="0">
              <a:buNone/>
            </a:pPr>
            <a:r>
              <a:rPr lang="en-US" sz="1600" dirty="0"/>
              <a:t>copy ipl_matches1 from 'C:/Program Files/PostgreSQL/16/data/IPL Dataset/IPL_matches.csv' delimiter ',' CSV HEADER     </a:t>
            </a:r>
          </a:p>
          <a:p>
            <a:pPr marL="0" indent="0">
              <a:buNone/>
            </a:pPr>
            <a:r>
              <a:rPr lang="en-US" sz="1600" dirty="0"/>
              <a:t>select * from ipl_matches1;</a:t>
            </a:r>
          </a:p>
          <a:p>
            <a:pPr marL="0" indent="0">
              <a:buNone/>
            </a:pPr>
            <a:r>
              <a:rPr lang="en-US" sz="1600" dirty="0"/>
              <a:t>create table </a:t>
            </a:r>
            <a:r>
              <a:rPr lang="en-US" sz="1600" dirty="0" err="1"/>
              <a:t>IPL_Ball</a:t>
            </a:r>
            <a:r>
              <a:rPr lang="en-US" sz="1600" dirty="0"/>
              <a:t> ( id INT,    inning INT,    over INT,    ball INT,    batsman VARCHAR,    </a:t>
            </a:r>
            <a:r>
              <a:rPr lang="en-US" sz="1600" dirty="0" err="1"/>
              <a:t>non_striker</a:t>
            </a:r>
            <a:r>
              <a:rPr lang="en-US" sz="1600" dirty="0"/>
              <a:t> VARCHAR,    bowler VARCHAR,    </a:t>
            </a:r>
            <a:r>
              <a:rPr lang="en-US" sz="1600" dirty="0" err="1"/>
              <a:t>batsman_runs</a:t>
            </a:r>
            <a:r>
              <a:rPr lang="en-US" sz="1600" dirty="0"/>
              <a:t> INT,    </a:t>
            </a:r>
            <a:r>
              <a:rPr lang="en-US" sz="1600" dirty="0" err="1"/>
              <a:t>extra_runs</a:t>
            </a:r>
            <a:r>
              <a:rPr lang="en-US" sz="1600" dirty="0"/>
              <a:t> INT,    </a:t>
            </a:r>
            <a:r>
              <a:rPr lang="en-US" sz="1600" dirty="0" err="1"/>
              <a:t>total_runs</a:t>
            </a:r>
            <a:r>
              <a:rPr lang="en-US" sz="1600" dirty="0"/>
              <a:t> INT,    </a:t>
            </a:r>
            <a:r>
              <a:rPr lang="en-US" sz="1600" dirty="0" err="1"/>
              <a:t>is_wicket</a:t>
            </a:r>
            <a:r>
              <a:rPr lang="en-US" sz="1600" dirty="0"/>
              <a:t> BOOLEAN,    </a:t>
            </a:r>
            <a:r>
              <a:rPr lang="en-US" sz="1600" dirty="0" err="1"/>
              <a:t>dismissal_kind</a:t>
            </a:r>
            <a:r>
              <a:rPr lang="en-US" sz="1600" dirty="0"/>
              <a:t> VARCHAR,    </a:t>
            </a:r>
            <a:r>
              <a:rPr lang="en-US" sz="1600" dirty="0" err="1"/>
              <a:t>player_dismissed</a:t>
            </a:r>
            <a:r>
              <a:rPr lang="en-US" sz="1600" dirty="0"/>
              <a:t> VARCHAR,    fielder VARCHAR,    </a:t>
            </a:r>
            <a:r>
              <a:rPr lang="en-US" sz="1600" dirty="0" err="1"/>
              <a:t>extras_type</a:t>
            </a:r>
            <a:r>
              <a:rPr lang="en-US" sz="1600" dirty="0"/>
              <a:t> VARCHAR,    </a:t>
            </a:r>
            <a:r>
              <a:rPr lang="en-US" sz="1600" dirty="0" err="1"/>
              <a:t>batting_team</a:t>
            </a:r>
            <a:r>
              <a:rPr lang="en-US" sz="1600" dirty="0"/>
              <a:t> VARCHAR,    </a:t>
            </a:r>
            <a:r>
              <a:rPr lang="en-US" sz="1600" dirty="0" err="1"/>
              <a:t>bowling_team</a:t>
            </a:r>
            <a:r>
              <a:rPr lang="en-US" sz="1600" dirty="0"/>
              <a:t> VARCHAR);</a:t>
            </a:r>
          </a:p>
          <a:p>
            <a:pPr marL="0" indent="0">
              <a:buNone/>
            </a:pPr>
            <a:r>
              <a:rPr lang="en-US" sz="1600" dirty="0"/>
              <a:t>copy </a:t>
            </a:r>
            <a:r>
              <a:rPr lang="en-US" sz="1600" dirty="0" err="1"/>
              <a:t>IPL_Ball</a:t>
            </a:r>
            <a:r>
              <a:rPr lang="en-US" sz="1600" dirty="0"/>
              <a:t> from 'C:/Program Files/PostgreSQL/16/data/IPL Dataset/IPL_Ball.csv' delimiter ',' CSV HEADER</a:t>
            </a:r>
          </a:p>
          <a:p>
            <a:pPr marL="0" indent="0">
              <a:buNone/>
            </a:pPr>
            <a:r>
              <a:rPr lang="en-US" sz="1600" dirty="0"/>
              <a:t>select * from </a:t>
            </a:r>
            <a:r>
              <a:rPr lang="en-US" sz="1600" dirty="0" err="1"/>
              <a:t>ipl_ball</a:t>
            </a:r>
            <a:r>
              <a:rPr lang="en-US" sz="1600" dirty="0"/>
              <a:t>;</a:t>
            </a:r>
          </a:p>
        </p:txBody>
      </p:sp>
    </p:spTree>
    <p:extLst>
      <p:ext uri="{BB962C8B-B14F-4D97-AF65-F5344CB8AC3E}">
        <p14:creationId xmlns:p14="http://schemas.microsoft.com/office/powerpoint/2010/main" val="4223530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8A91-2921-CCF7-A033-1BAFD8622D73}"/>
              </a:ext>
            </a:extLst>
          </p:cNvPr>
          <p:cNvSpPr>
            <a:spLocks noGrp="1"/>
          </p:cNvSpPr>
          <p:nvPr>
            <p:ph type="title"/>
          </p:nvPr>
        </p:nvSpPr>
        <p:spPr>
          <a:xfrm>
            <a:off x="838200" y="18255"/>
            <a:ext cx="10515600" cy="1325563"/>
          </a:xfrm>
        </p:spPr>
        <p:txBody>
          <a:bodyPr>
            <a:normAutofit/>
          </a:bodyPr>
          <a:lstStyle/>
          <a:p>
            <a:r>
              <a:rPr lang="en-US" sz="2800" b="1" dirty="0">
                <a:latin typeface="Comic Sans MS" panose="030F0702030302020204" pitchFamily="66" charset="0"/>
              </a:rPr>
              <a:t>First Priority  to get 2-3 players with high Strike Rate who have faced at least 500 balls</a:t>
            </a:r>
          </a:p>
        </p:txBody>
      </p:sp>
      <p:sp>
        <p:nvSpPr>
          <p:cNvPr id="3" name="Content Placeholder 2">
            <a:extLst>
              <a:ext uri="{FF2B5EF4-FFF2-40B4-BE49-F238E27FC236}">
                <a16:creationId xmlns:a16="http://schemas.microsoft.com/office/drawing/2014/main" id="{6DEE4135-1680-FEB9-BA79-DB67D84C5E6B}"/>
              </a:ext>
            </a:extLst>
          </p:cNvPr>
          <p:cNvSpPr>
            <a:spLocks noGrp="1"/>
          </p:cNvSpPr>
          <p:nvPr>
            <p:ph idx="1"/>
          </p:nvPr>
        </p:nvSpPr>
        <p:spPr>
          <a:xfrm>
            <a:off x="838200" y="1471664"/>
            <a:ext cx="10515600" cy="4351338"/>
          </a:xfrm>
        </p:spPr>
        <p:txBody>
          <a:bodyPr>
            <a:normAutofit/>
          </a:bodyPr>
          <a:lstStyle/>
          <a:p>
            <a:pPr marL="0" indent="0">
              <a:lnSpc>
                <a:spcPct val="150000"/>
              </a:lnSpc>
              <a:buNone/>
            </a:pPr>
            <a:r>
              <a:rPr lang="en-US" sz="1800" dirty="0">
                <a:latin typeface="Comic Sans MS" panose="030F0702030302020204" pitchFamily="66" charset="0"/>
              </a:rPr>
              <a:t>In this analysis, we are looking for 2-3 players with a high strike rate who have faced at least 500 balls. We need to identify 10 players to help me make the right decisions regarding my finances and the bid I am making for an aggressive IPL player. </a:t>
            </a:r>
          </a:p>
          <a:p>
            <a:pPr marL="0" indent="0">
              <a:lnSpc>
                <a:spcPct val="150000"/>
              </a:lnSpc>
              <a:buNone/>
            </a:pPr>
            <a:r>
              <a:rPr lang="en-US" sz="1800" dirty="0">
                <a:latin typeface="Comic Sans MS" panose="030F0702030302020204" pitchFamily="66" charset="0"/>
              </a:rPr>
              <a:t>The following code will do: </a:t>
            </a:r>
          </a:p>
          <a:p>
            <a:pPr>
              <a:lnSpc>
                <a:spcPct val="150000"/>
              </a:lnSpc>
              <a:buFont typeface="Wingdings" panose="05000000000000000000" pitchFamily="2" charset="2"/>
              <a:buChar char="Ø"/>
            </a:pPr>
            <a:r>
              <a:rPr lang="en-US" sz="1800" dirty="0">
                <a:latin typeface="Comic Sans MS" panose="030F0702030302020204" pitchFamily="66" charset="0"/>
              </a:rPr>
              <a:t>calculate total runs and the ball faced by each batsman. </a:t>
            </a:r>
          </a:p>
          <a:p>
            <a:pPr>
              <a:lnSpc>
                <a:spcPct val="150000"/>
              </a:lnSpc>
              <a:buFont typeface="Wingdings" panose="05000000000000000000" pitchFamily="2" charset="2"/>
              <a:buChar char="Ø"/>
            </a:pPr>
            <a:r>
              <a:rPr lang="en-US" sz="1800" dirty="0">
                <a:latin typeface="Comic Sans MS" panose="030F0702030302020204" pitchFamily="66" charset="0"/>
              </a:rPr>
              <a:t>It will also calculate the strike Rate and filter Batsmen with at least 500 balls faced. </a:t>
            </a:r>
          </a:p>
          <a:p>
            <a:pPr>
              <a:lnSpc>
                <a:spcPct val="150000"/>
              </a:lnSpc>
              <a:buFont typeface="Wingdings" panose="05000000000000000000" pitchFamily="2" charset="2"/>
              <a:buChar char="Ø"/>
            </a:pPr>
            <a:r>
              <a:rPr lang="en-US" sz="1800" dirty="0">
                <a:latin typeface="Comic Sans MS" panose="030F0702030302020204" pitchFamily="66" charset="0"/>
              </a:rPr>
              <a:t>finally it will give top 10 batsmen by strike rate.</a:t>
            </a:r>
          </a:p>
          <a:p>
            <a:pPr marL="0" indent="0">
              <a:lnSpc>
                <a:spcPct val="150000"/>
              </a:lnSpc>
              <a:buNone/>
            </a:pPr>
            <a:r>
              <a:rPr lang="en-US" sz="1800" dirty="0">
                <a:latin typeface="Comic Sans MS" panose="030F0702030302020204" pitchFamily="66" charset="0"/>
              </a:rPr>
              <a:t>considering that </a:t>
            </a:r>
            <a:r>
              <a:rPr lang="en-US" sz="1800" dirty="0" err="1">
                <a:latin typeface="Comic Sans MS" panose="030F0702030302020204" pitchFamily="66" charset="0"/>
              </a:rPr>
              <a:t>extras_type</a:t>
            </a:r>
            <a:r>
              <a:rPr lang="en-US" sz="1800" dirty="0">
                <a:latin typeface="Comic Sans MS" panose="030F0702030302020204" pitchFamily="66" charset="0"/>
              </a:rPr>
              <a:t> is not counted either as ball faced or as </a:t>
            </a:r>
            <a:r>
              <a:rPr lang="en-US" sz="1800" dirty="0" err="1">
                <a:latin typeface="Comic Sans MS" panose="030F0702030302020204" pitchFamily="66" charset="0"/>
              </a:rPr>
              <a:t>batmans</a:t>
            </a:r>
            <a:r>
              <a:rPr lang="en-US" sz="1800" dirty="0">
                <a:latin typeface="Comic Sans MS" panose="030F0702030302020204" pitchFamily="66" charset="0"/>
              </a:rPr>
              <a:t> run</a:t>
            </a:r>
          </a:p>
        </p:txBody>
      </p:sp>
    </p:spTree>
    <p:extLst>
      <p:ext uri="{BB962C8B-B14F-4D97-AF65-F5344CB8AC3E}">
        <p14:creationId xmlns:p14="http://schemas.microsoft.com/office/powerpoint/2010/main" val="2990736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7D507-0EF9-8D1A-6DD4-D969577E7D4A}"/>
              </a:ext>
            </a:extLst>
          </p:cNvPr>
          <p:cNvSpPr>
            <a:spLocks noGrp="1"/>
          </p:cNvSpPr>
          <p:nvPr>
            <p:ph type="title"/>
          </p:nvPr>
        </p:nvSpPr>
        <p:spPr/>
        <p:txBody>
          <a:bodyPr/>
          <a:lstStyle/>
          <a:p>
            <a:r>
              <a:rPr lang="en-US" dirty="0"/>
              <a:t>First Priority codes </a:t>
            </a:r>
          </a:p>
        </p:txBody>
      </p:sp>
      <p:sp>
        <p:nvSpPr>
          <p:cNvPr id="3" name="Content Placeholder 2">
            <a:extLst>
              <a:ext uri="{FF2B5EF4-FFF2-40B4-BE49-F238E27FC236}">
                <a16:creationId xmlns:a16="http://schemas.microsoft.com/office/drawing/2014/main" id="{309DD76A-5988-3DFF-BCB0-1BFDC13A6333}"/>
              </a:ext>
            </a:extLst>
          </p:cNvPr>
          <p:cNvSpPr>
            <a:spLocks noGrp="1"/>
          </p:cNvSpPr>
          <p:nvPr>
            <p:ph idx="1"/>
          </p:nvPr>
        </p:nvSpPr>
        <p:spPr/>
        <p:txBody>
          <a:bodyPr>
            <a:normAutofit/>
          </a:bodyPr>
          <a:lstStyle/>
          <a:p>
            <a:pPr marL="342900" indent="-342900">
              <a:buAutoNum type="arabicPeriod"/>
            </a:pPr>
            <a:r>
              <a:rPr lang="en-US" sz="1600" dirty="0">
                <a:latin typeface="Georgia" panose="02040502050405020303" pitchFamily="18" charset="0"/>
              </a:rPr>
              <a:t>select </a:t>
            </a:r>
            <a:r>
              <a:rPr lang="en-US" sz="1600" dirty="0" err="1">
                <a:latin typeface="Georgia" panose="02040502050405020303" pitchFamily="18" charset="0"/>
              </a:rPr>
              <a:t>batsman,sum</a:t>
            </a:r>
            <a:r>
              <a:rPr lang="en-US" sz="1600" dirty="0">
                <a:latin typeface="Georgia" panose="02040502050405020303" pitchFamily="18" charset="0"/>
              </a:rPr>
              <a:t>(</a:t>
            </a:r>
            <a:r>
              <a:rPr lang="en-US" sz="1600" dirty="0" err="1">
                <a:latin typeface="Georgia" panose="02040502050405020303" pitchFamily="18" charset="0"/>
              </a:rPr>
              <a:t>batsman_runs</a:t>
            </a:r>
            <a:r>
              <a:rPr lang="en-US" sz="1600" dirty="0">
                <a:latin typeface="Georgia" panose="02040502050405020303" pitchFamily="18" charset="0"/>
              </a:rPr>
              <a:t>) as </a:t>
            </a:r>
            <a:r>
              <a:rPr lang="en-US" sz="1600" dirty="0" err="1">
                <a:latin typeface="Georgia" panose="02040502050405020303" pitchFamily="18" charset="0"/>
              </a:rPr>
              <a:t>total_runs,count</a:t>
            </a:r>
            <a:r>
              <a:rPr lang="en-US" sz="1600" dirty="0">
                <a:latin typeface="Georgia" panose="02040502050405020303" pitchFamily="18" charset="0"/>
              </a:rPr>
              <a:t>(*) 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 as </a:t>
            </a:r>
            <a:r>
              <a:rPr lang="en-US" sz="1600" dirty="0" err="1">
                <a:latin typeface="Georgia" panose="02040502050405020303" pitchFamily="18" charset="0"/>
              </a:rPr>
              <a:t>balls_faced,Round</a:t>
            </a:r>
            <a:r>
              <a:rPr lang="en-US" sz="1600" dirty="0">
                <a:latin typeface="Georgia" panose="02040502050405020303" pitchFamily="18" charset="0"/>
              </a:rPr>
              <a:t>((sum(</a:t>
            </a:r>
            <a:r>
              <a:rPr lang="en-US" sz="1600" dirty="0" err="1">
                <a:latin typeface="Georgia" panose="02040502050405020303" pitchFamily="18" charset="0"/>
              </a:rPr>
              <a:t>batsman_runs</a:t>
            </a:r>
            <a:r>
              <a:rPr lang="en-US" sz="1600" dirty="0">
                <a:latin typeface="Georgia" panose="02040502050405020303" pitchFamily="18" charset="0"/>
              </a:rPr>
              <a:t>)*1.0/</a:t>
            </a:r>
            <a:r>
              <a:rPr lang="en-US" sz="1600" dirty="0" err="1">
                <a:latin typeface="Georgia" panose="02040502050405020303" pitchFamily="18" charset="0"/>
              </a:rPr>
              <a:t>nullif</a:t>
            </a:r>
            <a:r>
              <a:rPr lang="en-US" sz="1600" dirty="0">
                <a:latin typeface="Georgia" panose="02040502050405020303" pitchFamily="18" charset="0"/>
              </a:rPr>
              <a:t>(count(*)filter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'),0)) * 100,2) as </a:t>
            </a:r>
            <a:r>
              <a:rPr lang="en-US" sz="1600" dirty="0" err="1">
                <a:latin typeface="Georgia" panose="02040502050405020303" pitchFamily="18" charset="0"/>
              </a:rPr>
              <a:t>strike_ratefrom</a:t>
            </a:r>
            <a:r>
              <a:rPr lang="en-US" sz="1600" dirty="0">
                <a:latin typeface="Georgia" panose="02040502050405020303" pitchFamily="18" charset="0"/>
              </a:rPr>
              <a:t> </a:t>
            </a:r>
            <a:r>
              <a:rPr lang="en-US" sz="1600" dirty="0" err="1">
                <a:latin typeface="Georgia" panose="02040502050405020303" pitchFamily="18" charset="0"/>
              </a:rPr>
              <a:t>ipl_ballGroup</a:t>
            </a:r>
            <a:r>
              <a:rPr lang="en-US" sz="1600" dirty="0">
                <a:latin typeface="Georgia" panose="02040502050405020303" pitchFamily="18" charset="0"/>
              </a:rPr>
              <a:t> by batsman;</a:t>
            </a:r>
          </a:p>
          <a:p>
            <a:pPr marL="342900" indent="-342900">
              <a:buAutoNum type="arabicPeriod"/>
            </a:pPr>
            <a:r>
              <a:rPr lang="en-US" sz="1600" dirty="0">
                <a:latin typeface="Georgia" panose="02040502050405020303" pitchFamily="18" charset="0"/>
              </a:rPr>
              <a:t>select </a:t>
            </a:r>
            <a:r>
              <a:rPr lang="en-US" sz="1600" dirty="0" err="1">
                <a:latin typeface="Georgia" panose="02040502050405020303" pitchFamily="18" charset="0"/>
              </a:rPr>
              <a:t>batsman,sum</a:t>
            </a:r>
            <a:r>
              <a:rPr lang="en-US" sz="1600" dirty="0">
                <a:latin typeface="Georgia" panose="02040502050405020303" pitchFamily="18" charset="0"/>
              </a:rPr>
              <a:t>(</a:t>
            </a:r>
            <a:r>
              <a:rPr lang="en-US" sz="1600" dirty="0" err="1">
                <a:latin typeface="Georgia" panose="02040502050405020303" pitchFamily="18" charset="0"/>
              </a:rPr>
              <a:t>batsman_runs</a:t>
            </a:r>
            <a:r>
              <a:rPr lang="en-US" sz="1600" dirty="0">
                <a:latin typeface="Georgia" panose="02040502050405020303" pitchFamily="18" charset="0"/>
              </a:rPr>
              <a:t>) as </a:t>
            </a:r>
            <a:r>
              <a:rPr lang="en-US" sz="1600" dirty="0" err="1">
                <a:latin typeface="Georgia" panose="02040502050405020303" pitchFamily="18" charset="0"/>
              </a:rPr>
              <a:t>total_runs,count</a:t>
            </a:r>
            <a:r>
              <a:rPr lang="en-US" sz="1600" dirty="0">
                <a:latin typeface="Georgia" panose="02040502050405020303" pitchFamily="18" charset="0"/>
              </a:rPr>
              <a:t>(*) 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 as </a:t>
            </a:r>
            <a:r>
              <a:rPr lang="en-US" sz="1600" dirty="0" err="1">
                <a:latin typeface="Georgia" panose="02040502050405020303" pitchFamily="18" charset="0"/>
              </a:rPr>
              <a:t>balls_faced,Round</a:t>
            </a:r>
            <a:r>
              <a:rPr lang="en-US" sz="1600" dirty="0">
                <a:latin typeface="Georgia" panose="02040502050405020303" pitchFamily="18" charset="0"/>
              </a:rPr>
              <a:t>((sum(</a:t>
            </a:r>
            <a:r>
              <a:rPr lang="en-US" sz="1600" dirty="0" err="1">
                <a:latin typeface="Georgia" panose="02040502050405020303" pitchFamily="18" charset="0"/>
              </a:rPr>
              <a:t>batsman_runs</a:t>
            </a:r>
            <a:r>
              <a:rPr lang="en-US" sz="1600" dirty="0">
                <a:latin typeface="Georgia" panose="02040502050405020303" pitchFamily="18" charset="0"/>
              </a:rPr>
              <a:t>)*1.0/</a:t>
            </a:r>
            <a:r>
              <a:rPr lang="en-US" sz="1600" dirty="0" err="1">
                <a:latin typeface="Georgia" panose="02040502050405020303" pitchFamily="18" charset="0"/>
              </a:rPr>
              <a:t>nullif</a:t>
            </a:r>
            <a:r>
              <a:rPr lang="en-US" sz="1600" dirty="0">
                <a:latin typeface="Georgia" panose="02040502050405020303" pitchFamily="18" charset="0"/>
              </a:rPr>
              <a:t>(count(*)filter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'),0)) * 100,2) as </a:t>
            </a:r>
            <a:r>
              <a:rPr lang="en-US" sz="1600" dirty="0" err="1">
                <a:latin typeface="Georgia" panose="02040502050405020303" pitchFamily="18" charset="0"/>
              </a:rPr>
              <a:t>strike_ratefrom</a:t>
            </a:r>
            <a:r>
              <a:rPr lang="en-US" sz="1600" dirty="0">
                <a:latin typeface="Georgia" panose="02040502050405020303" pitchFamily="18" charset="0"/>
              </a:rPr>
              <a:t> </a:t>
            </a:r>
            <a:r>
              <a:rPr lang="en-US" sz="1600" dirty="0" err="1">
                <a:latin typeface="Georgia" panose="02040502050405020303" pitchFamily="18" charset="0"/>
              </a:rPr>
              <a:t>ipl_ballGroup</a:t>
            </a:r>
            <a:r>
              <a:rPr lang="en-US" sz="1600" dirty="0">
                <a:latin typeface="Georgia" panose="02040502050405020303" pitchFamily="18" charset="0"/>
              </a:rPr>
              <a:t> by </a:t>
            </a:r>
            <a:r>
              <a:rPr lang="en-US" sz="1600" dirty="0" err="1">
                <a:latin typeface="Georgia" panose="02040502050405020303" pitchFamily="18" charset="0"/>
              </a:rPr>
              <a:t>batsmanhaving</a:t>
            </a:r>
            <a:r>
              <a:rPr lang="en-US" sz="1600" dirty="0">
                <a:latin typeface="Georgia" panose="02040502050405020303" pitchFamily="18" charset="0"/>
              </a:rPr>
              <a:t> count(*) 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 &gt;= 500;</a:t>
            </a:r>
          </a:p>
          <a:p>
            <a:pPr marL="342900" indent="-342900">
              <a:buAutoNum type="arabicPeriod"/>
            </a:pPr>
            <a:r>
              <a:rPr lang="en-US" sz="1600" dirty="0">
                <a:latin typeface="Georgia" panose="02040502050405020303" pitchFamily="18" charset="0"/>
              </a:rPr>
              <a:t>select </a:t>
            </a:r>
            <a:r>
              <a:rPr lang="en-US" sz="1600" dirty="0" err="1">
                <a:latin typeface="Georgia" panose="02040502050405020303" pitchFamily="18" charset="0"/>
              </a:rPr>
              <a:t>batsman,sum</a:t>
            </a:r>
            <a:r>
              <a:rPr lang="en-US" sz="1600" dirty="0">
                <a:latin typeface="Georgia" panose="02040502050405020303" pitchFamily="18" charset="0"/>
              </a:rPr>
              <a:t>(</a:t>
            </a:r>
            <a:r>
              <a:rPr lang="en-US" sz="1600" dirty="0" err="1">
                <a:latin typeface="Georgia" panose="02040502050405020303" pitchFamily="18" charset="0"/>
              </a:rPr>
              <a:t>batsman_runs</a:t>
            </a:r>
            <a:r>
              <a:rPr lang="en-US" sz="1600" dirty="0">
                <a:latin typeface="Georgia" panose="02040502050405020303" pitchFamily="18" charset="0"/>
              </a:rPr>
              <a:t>) as </a:t>
            </a:r>
            <a:r>
              <a:rPr lang="en-US" sz="1600" dirty="0" err="1">
                <a:latin typeface="Georgia" panose="02040502050405020303" pitchFamily="18" charset="0"/>
              </a:rPr>
              <a:t>total_runs,count</a:t>
            </a:r>
            <a:r>
              <a:rPr lang="en-US" sz="1600" dirty="0">
                <a:latin typeface="Georgia" panose="02040502050405020303" pitchFamily="18" charset="0"/>
              </a:rPr>
              <a:t>(*) 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 as </a:t>
            </a:r>
            <a:r>
              <a:rPr lang="en-US" sz="1600" dirty="0" err="1">
                <a:latin typeface="Georgia" panose="02040502050405020303" pitchFamily="18" charset="0"/>
              </a:rPr>
              <a:t>balls_faced,Round</a:t>
            </a:r>
            <a:r>
              <a:rPr lang="en-US" sz="1600" dirty="0">
                <a:latin typeface="Georgia" panose="02040502050405020303" pitchFamily="18" charset="0"/>
              </a:rPr>
              <a:t>((sum(</a:t>
            </a:r>
            <a:r>
              <a:rPr lang="en-US" sz="1600" dirty="0" err="1">
                <a:latin typeface="Georgia" panose="02040502050405020303" pitchFamily="18" charset="0"/>
              </a:rPr>
              <a:t>batsman_runs</a:t>
            </a:r>
            <a:r>
              <a:rPr lang="en-US" sz="1600" dirty="0">
                <a:latin typeface="Georgia" panose="02040502050405020303" pitchFamily="18" charset="0"/>
              </a:rPr>
              <a:t>)*1.0/</a:t>
            </a:r>
            <a:r>
              <a:rPr lang="en-US" sz="1600" dirty="0" err="1">
                <a:latin typeface="Georgia" panose="02040502050405020303" pitchFamily="18" charset="0"/>
              </a:rPr>
              <a:t>nullif</a:t>
            </a:r>
            <a:r>
              <a:rPr lang="en-US" sz="1600" dirty="0">
                <a:latin typeface="Georgia" panose="02040502050405020303" pitchFamily="18" charset="0"/>
              </a:rPr>
              <a:t>(count(*)filter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'),0)) * 100,2) as </a:t>
            </a:r>
            <a:r>
              <a:rPr lang="en-US" sz="1600" dirty="0" err="1">
                <a:latin typeface="Georgia" panose="02040502050405020303" pitchFamily="18" charset="0"/>
              </a:rPr>
              <a:t>strike_ratefrom</a:t>
            </a:r>
            <a:r>
              <a:rPr lang="en-US" sz="1600" dirty="0">
                <a:latin typeface="Georgia" panose="02040502050405020303" pitchFamily="18" charset="0"/>
              </a:rPr>
              <a:t> </a:t>
            </a:r>
            <a:r>
              <a:rPr lang="en-US" sz="1600" dirty="0" err="1">
                <a:latin typeface="Georgia" panose="02040502050405020303" pitchFamily="18" charset="0"/>
              </a:rPr>
              <a:t>ipl_ballGroup</a:t>
            </a:r>
            <a:r>
              <a:rPr lang="en-US" sz="1600" dirty="0">
                <a:latin typeface="Georgia" panose="02040502050405020303" pitchFamily="18" charset="0"/>
              </a:rPr>
              <a:t> by </a:t>
            </a:r>
            <a:r>
              <a:rPr lang="en-US" sz="1600" dirty="0" err="1">
                <a:latin typeface="Georgia" panose="02040502050405020303" pitchFamily="18" charset="0"/>
              </a:rPr>
              <a:t>batsmanhaving</a:t>
            </a:r>
            <a:r>
              <a:rPr lang="en-US" sz="1600" dirty="0">
                <a:latin typeface="Georgia" panose="02040502050405020303" pitchFamily="18" charset="0"/>
              </a:rPr>
              <a:t> count(*) filter (where </a:t>
            </a:r>
            <a:r>
              <a:rPr lang="en-US" sz="1600" dirty="0" err="1">
                <a:latin typeface="Georgia" panose="02040502050405020303" pitchFamily="18" charset="0"/>
              </a:rPr>
              <a:t>extras_type</a:t>
            </a:r>
            <a:r>
              <a:rPr lang="en-US" sz="1600" dirty="0">
                <a:latin typeface="Georgia" panose="02040502050405020303" pitchFamily="18" charset="0"/>
              </a:rPr>
              <a:t> != '</a:t>
            </a:r>
            <a:r>
              <a:rPr lang="en-US" sz="1600" dirty="0" err="1">
                <a:latin typeface="Georgia" panose="02040502050405020303" pitchFamily="18" charset="0"/>
              </a:rPr>
              <a:t>wides</a:t>
            </a:r>
            <a:r>
              <a:rPr lang="en-US" sz="1600" dirty="0">
                <a:latin typeface="Georgia" panose="02040502050405020303" pitchFamily="18" charset="0"/>
              </a:rPr>
              <a:t>') &gt;= 500 order by </a:t>
            </a:r>
            <a:r>
              <a:rPr lang="en-US" sz="1600" dirty="0" err="1">
                <a:latin typeface="Georgia" panose="02040502050405020303" pitchFamily="18" charset="0"/>
              </a:rPr>
              <a:t>strike_rateLimit</a:t>
            </a:r>
            <a:r>
              <a:rPr lang="en-US" sz="1600" dirty="0">
                <a:latin typeface="Georgia" panose="02040502050405020303" pitchFamily="18" charset="0"/>
              </a:rPr>
              <a:t> 10;</a:t>
            </a:r>
          </a:p>
        </p:txBody>
      </p:sp>
    </p:spTree>
    <p:extLst>
      <p:ext uri="{BB962C8B-B14F-4D97-AF65-F5344CB8AC3E}">
        <p14:creationId xmlns:p14="http://schemas.microsoft.com/office/powerpoint/2010/main" val="1917800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13A708C-F1C8-74C1-A3F0-77627EADB101}"/>
              </a:ext>
            </a:extLst>
          </p:cNvPr>
          <p:cNvSpPr>
            <a:spLocks noGrp="1"/>
          </p:cNvSpPr>
          <p:nvPr>
            <p:ph type="title"/>
          </p:nvPr>
        </p:nvSpPr>
        <p:spPr>
          <a:xfrm>
            <a:off x="838201" y="3998018"/>
            <a:ext cx="3981854" cy="2216513"/>
          </a:xfrm>
        </p:spPr>
        <p:txBody>
          <a:bodyPr>
            <a:normAutofit/>
          </a:bodyPr>
          <a:lstStyle/>
          <a:p>
            <a:r>
              <a:rPr lang="en-US" sz="4100" dirty="0"/>
              <a:t>Visual representation of charts and tables</a:t>
            </a:r>
          </a:p>
        </p:txBody>
      </p:sp>
      <p:sp>
        <p:nvSpPr>
          <p:cNvPr id="27" name="Arc 26">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Content Placeholder 4" descr="A green bar graph with black text&#10;&#10;Description automatically generated">
            <a:extLst>
              <a:ext uri="{FF2B5EF4-FFF2-40B4-BE49-F238E27FC236}">
                <a16:creationId xmlns:a16="http://schemas.microsoft.com/office/drawing/2014/main" id="{F9533F1E-48AA-A613-F346-DED3F13B26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914" y="204648"/>
            <a:ext cx="10872172" cy="335454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9" name="Content Placeholder 8">
            <a:extLst>
              <a:ext uri="{FF2B5EF4-FFF2-40B4-BE49-F238E27FC236}">
                <a16:creationId xmlns:a16="http://schemas.microsoft.com/office/drawing/2014/main" id="{3587A1C9-3F8A-2422-CD73-19D2BBA2B9DE}"/>
              </a:ext>
            </a:extLst>
          </p:cNvPr>
          <p:cNvSpPr>
            <a:spLocks noGrp="1"/>
          </p:cNvSpPr>
          <p:nvPr>
            <p:ph idx="1"/>
          </p:nvPr>
        </p:nvSpPr>
        <p:spPr>
          <a:xfrm>
            <a:off x="4970835" y="3998019"/>
            <a:ext cx="6382966" cy="2216512"/>
          </a:xfrm>
        </p:spPr>
        <p:txBody>
          <a:bodyPr>
            <a:noAutofit/>
          </a:bodyPr>
          <a:lstStyle/>
          <a:p>
            <a:pPr marL="0" indent="0">
              <a:buNone/>
            </a:pPr>
            <a:r>
              <a:rPr lang="en-US" sz="2000" dirty="0">
                <a:latin typeface="Comic Sans MS" panose="030F0702030302020204" pitchFamily="66" charset="0"/>
              </a:rPr>
              <a:t>Based on the chart and table above, it is evident that the top ten players with high strike rates can be considered for the auction. We can choose 2 or 3 of them, as they have similar strike rates, which is crucial for aggressive batsmen. Additionally, all of these players have faced at least 500 balls. Therefore, we should consider them based on the prices at which they are placed.</a:t>
            </a:r>
          </a:p>
          <a:p>
            <a:pPr marL="0" indent="0">
              <a:buNone/>
            </a:pPr>
            <a:endParaRPr lang="en-US" sz="2000" dirty="0">
              <a:latin typeface="Comic Sans MS" panose="030F0702030302020204" pitchFamily="66" charset="0"/>
            </a:endParaRPr>
          </a:p>
        </p:txBody>
      </p:sp>
    </p:spTree>
    <p:extLst>
      <p:ext uri="{BB962C8B-B14F-4D97-AF65-F5344CB8AC3E}">
        <p14:creationId xmlns:p14="http://schemas.microsoft.com/office/powerpoint/2010/main" val="3059459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EE50-E526-46F9-F2E2-B4F9615F720E}"/>
              </a:ext>
            </a:extLst>
          </p:cNvPr>
          <p:cNvSpPr>
            <a:spLocks noGrp="1"/>
          </p:cNvSpPr>
          <p:nvPr>
            <p:ph type="title"/>
          </p:nvPr>
        </p:nvSpPr>
        <p:spPr/>
        <p:txBody>
          <a:bodyPr/>
          <a:lstStyle/>
          <a:p>
            <a:r>
              <a:rPr lang="en-US" dirty="0"/>
              <a:t>2-3 players with good average and must have played 2 </a:t>
            </a:r>
            <a:r>
              <a:rPr lang="en-US" dirty="0" err="1"/>
              <a:t>ipl</a:t>
            </a:r>
            <a:r>
              <a:rPr lang="en-US" dirty="0"/>
              <a:t> season.</a:t>
            </a:r>
          </a:p>
        </p:txBody>
      </p:sp>
      <p:sp>
        <p:nvSpPr>
          <p:cNvPr id="3" name="Content Placeholder 2">
            <a:extLst>
              <a:ext uri="{FF2B5EF4-FFF2-40B4-BE49-F238E27FC236}">
                <a16:creationId xmlns:a16="http://schemas.microsoft.com/office/drawing/2014/main" id="{C4F03251-FB7D-DB68-6E57-99158349A6C7}"/>
              </a:ext>
            </a:extLst>
          </p:cNvPr>
          <p:cNvSpPr>
            <a:spLocks noGrp="1"/>
          </p:cNvSpPr>
          <p:nvPr>
            <p:ph idx="1"/>
          </p:nvPr>
        </p:nvSpPr>
        <p:spPr/>
        <p:txBody>
          <a:bodyPr>
            <a:normAutofit/>
          </a:bodyPr>
          <a:lstStyle/>
          <a:p>
            <a:pPr marL="0" indent="0">
              <a:buNone/>
            </a:pPr>
            <a:r>
              <a:rPr lang="en-US" sz="2000" dirty="0">
                <a:latin typeface="Georgia" panose="02040502050405020303" pitchFamily="18" charset="0"/>
              </a:rPr>
              <a:t>In order to identify players with a good batting average, we need to consider the following conditions: the total runs scored divided by the number of times the batsman has been dismissed. </a:t>
            </a:r>
          </a:p>
          <a:p>
            <a:pPr marL="0" indent="0">
              <a:buNone/>
            </a:pPr>
            <a:r>
              <a:rPr lang="en-US" sz="2000" dirty="0">
                <a:latin typeface="Georgia" panose="02040502050405020303" pitchFamily="18" charset="0"/>
              </a:rPr>
              <a:t>The process can be outlined as follows:</a:t>
            </a:r>
          </a:p>
          <a:p>
            <a:pPr marL="514350" indent="-514350">
              <a:buAutoNum type="arabicPeriod"/>
            </a:pPr>
            <a:r>
              <a:rPr lang="en-US" sz="2000" dirty="0">
                <a:latin typeface="Georgia" panose="02040502050405020303" pitchFamily="18" charset="0"/>
              </a:rPr>
              <a:t>Calculation dismissals and batting averages of each player</a:t>
            </a:r>
          </a:p>
          <a:p>
            <a:pPr marL="514350" indent="-514350">
              <a:buAutoNum type="arabicPeriod"/>
            </a:pPr>
            <a:r>
              <a:rPr lang="en-US" sz="2000" dirty="0">
                <a:latin typeface="Georgia" panose="02040502050405020303" pitchFamily="18" charset="0"/>
              </a:rPr>
              <a:t>Identification of players who have played more than 2 IPL seasons and won player of the match.</a:t>
            </a:r>
          </a:p>
          <a:p>
            <a:pPr marL="514350" indent="-514350">
              <a:buAutoNum type="arabicPeriod"/>
            </a:pPr>
            <a:r>
              <a:rPr lang="en-US" sz="2000" dirty="0">
                <a:latin typeface="Georgia" panose="02040502050405020303" pitchFamily="18" charset="0"/>
              </a:rPr>
              <a:t>Ranking the players by their batting averages and selection of the top 10 players using all these metrics</a:t>
            </a:r>
          </a:p>
        </p:txBody>
      </p:sp>
    </p:spTree>
    <p:extLst>
      <p:ext uri="{BB962C8B-B14F-4D97-AF65-F5344CB8AC3E}">
        <p14:creationId xmlns:p14="http://schemas.microsoft.com/office/powerpoint/2010/main" val="1840174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81A62-0A79-C919-448F-803C8FDB9F28}"/>
              </a:ext>
            </a:extLst>
          </p:cNvPr>
          <p:cNvSpPr>
            <a:spLocks noGrp="1"/>
          </p:cNvSpPr>
          <p:nvPr>
            <p:ph type="title"/>
          </p:nvPr>
        </p:nvSpPr>
        <p:spPr/>
        <p:txBody>
          <a:bodyPr/>
          <a:lstStyle/>
          <a:p>
            <a:r>
              <a:rPr lang="en-US" dirty="0"/>
              <a:t>Codes for 2-3 players with good average and must have played 2 </a:t>
            </a:r>
            <a:r>
              <a:rPr lang="en-US" dirty="0" err="1"/>
              <a:t>ipl</a:t>
            </a:r>
            <a:r>
              <a:rPr lang="en-US" dirty="0"/>
              <a:t> season.</a:t>
            </a:r>
          </a:p>
        </p:txBody>
      </p:sp>
      <p:sp>
        <p:nvSpPr>
          <p:cNvPr id="3" name="Content Placeholder 2">
            <a:extLst>
              <a:ext uri="{FF2B5EF4-FFF2-40B4-BE49-F238E27FC236}">
                <a16:creationId xmlns:a16="http://schemas.microsoft.com/office/drawing/2014/main" id="{AD1F827D-A4D7-15E0-49C7-009CBED3B7AA}"/>
              </a:ext>
            </a:extLst>
          </p:cNvPr>
          <p:cNvSpPr>
            <a:spLocks noGrp="1"/>
          </p:cNvSpPr>
          <p:nvPr>
            <p:ph idx="1"/>
          </p:nvPr>
        </p:nvSpPr>
        <p:spPr/>
        <p:txBody>
          <a:bodyPr/>
          <a:lstStyle/>
          <a:p>
            <a:pPr marL="0" indent="0">
              <a:lnSpc>
                <a:spcPct val="150000"/>
              </a:lnSpc>
              <a:buNone/>
            </a:pPr>
            <a:r>
              <a:rPr lang="en-US" sz="1600" dirty="0">
                <a:latin typeface="Comic Sans MS" panose="030F0702030302020204" pitchFamily="66" charset="0"/>
              </a:rPr>
              <a:t>select 	batsman, 	SUM(</a:t>
            </a:r>
            <a:r>
              <a:rPr lang="en-US" sz="1600" dirty="0" err="1">
                <a:latin typeface="Comic Sans MS" panose="030F0702030302020204" pitchFamily="66" charset="0"/>
              </a:rPr>
              <a:t>batsman_runs</a:t>
            </a:r>
            <a:r>
              <a:rPr lang="en-US" sz="1600" dirty="0">
                <a:latin typeface="Comic Sans MS" panose="030F0702030302020204" pitchFamily="66" charset="0"/>
              </a:rPr>
              <a:t>) as </a:t>
            </a:r>
            <a:r>
              <a:rPr lang="en-US" sz="1600" dirty="0" err="1">
                <a:latin typeface="Comic Sans MS" panose="030F0702030302020204" pitchFamily="66" charset="0"/>
              </a:rPr>
              <a:t>total_runs</a:t>
            </a:r>
            <a:r>
              <a:rPr lang="en-US" sz="1600" dirty="0">
                <a:latin typeface="Comic Sans MS" panose="030F0702030302020204" pitchFamily="66" charset="0"/>
              </a:rPr>
              <a:t>, count(case when </a:t>
            </a:r>
            <a:r>
              <a:rPr lang="en-US" sz="1600" dirty="0" err="1">
                <a:latin typeface="Comic Sans MS" panose="030F0702030302020204" pitchFamily="66" charset="0"/>
              </a:rPr>
              <a:t>is_wicket</a:t>
            </a:r>
            <a:r>
              <a:rPr lang="en-US" sz="1600" dirty="0">
                <a:latin typeface="Comic Sans MS" panose="030F0702030302020204" pitchFamily="66" charset="0"/>
              </a:rPr>
              <a:t> = TRUE then 1 end) as dismissals from </a:t>
            </a:r>
            <a:r>
              <a:rPr lang="en-US" sz="1600" dirty="0" err="1">
                <a:latin typeface="Comic Sans MS" panose="030F0702030302020204" pitchFamily="66" charset="0"/>
              </a:rPr>
              <a:t>ipl_ball</a:t>
            </a:r>
            <a:r>
              <a:rPr lang="en-US" sz="1600" dirty="0">
                <a:latin typeface="Comic Sans MS" panose="030F0702030302020204" pitchFamily="66" charset="0"/>
              </a:rPr>
              <a:t> Group by batsman;</a:t>
            </a:r>
          </a:p>
          <a:p>
            <a:pPr marL="0" indent="0">
              <a:lnSpc>
                <a:spcPct val="150000"/>
              </a:lnSpc>
              <a:buNone/>
            </a:pPr>
            <a:r>
              <a:rPr lang="en-US" sz="1600" dirty="0">
                <a:latin typeface="Comic Sans MS" panose="030F0702030302020204" pitchFamily="66" charset="0"/>
              </a:rPr>
              <a:t>select batsman, sum(</a:t>
            </a:r>
            <a:r>
              <a:rPr lang="en-US" sz="1600" dirty="0" err="1">
                <a:latin typeface="Comic Sans MS" panose="030F0702030302020204" pitchFamily="66" charset="0"/>
              </a:rPr>
              <a:t>batsman_runs</a:t>
            </a:r>
            <a:r>
              <a:rPr lang="en-US" sz="1600" dirty="0">
                <a:latin typeface="Comic Sans MS" panose="030F0702030302020204" pitchFamily="66" charset="0"/>
              </a:rPr>
              <a:t>) as </a:t>
            </a:r>
            <a:r>
              <a:rPr lang="en-US" sz="1600" dirty="0" err="1">
                <a:latin typeface="Comic Sans MS" panose="030F0702030302020204" pitchFamily="66" charset="0"/>
              </a:rPr>
              <a:t>total_runs</a:t>
            </a:r>
            <a:r>
              <a:rPr lang="en-US" sz="1600" dirty="0">
                <a:latin typeface="Comic Sans MS" panose="030F0702030302020204" pitchFamily="66" charset="0"/>
              </a:rPr>
              <a:t> , count(case when </a:t>
            </a:r>
            <a:r>
              <a:rPr lang="en-US" sz="1600" dirty="0" err="1">
                <a:latin typeface="Comic Sans MS" panose="030F0702030302020204" pitchFamily="66" charset="0"/>
              </a:rPr>
              <a:t>is_wicket</a:t>
            </a:r>
            <a:r>
              <a:rPr lang="en-US" sz="1600" dirty="0">
                <a:latin typeface="Comic Sans MS" panose="030F0702030302020204" pitchFamily="66" charset="0"/>
              </a:rPr>
              <a:t> = TRUE then 1 end) as dismissals, (sum(</a:t>
            </a:r>
            <a:r>
              <a:rPr lang="en-US" sz="1600" dirty="0" err="1">
                <a:latin typeface="Comic Sans MS" panose="030F0702030302020204" pitchFamily="66" charset="0"/>
              </a:rPr>
              <a:t>batsman_runs</a:t>
            </a:r>
            <a:r>
              <a:rPr lang="en-US" sz="1600" dirty="0">
                <a:latin typeface="Comic Sans MS" panose="030F0702030302020204" pitchFamily="66" charset="0"/>
              </a:rPr>
              <a:t>)* 1.0/ </a:t>
            </a:r>
            <a:r>
              <a:rPr lang="en-US" sz="1600" dirty="0" err="1">
                <a:latin typeface="Comic Sans MS" panose="030F0702030302020204" pitchFamily="66" charset="0"/>
              </a:rPr>
              <a:t>Nullif</a:t>
            </a:r>
            <a:r>
              <a:rPr lang="en-US" sz="1600" dirty="0">
                <a:latin typeface="Comic Sans MS" panose="030F0702030302020204" pitchFamily="66" charset="0"/>
              </a:rPr>
              <a:t>(count(case when </a:t>
            </a:r>
            <a:r>
              <a:rPr lang="en-US" sz="1600" dirty="0" err="1">
                <a:latin typeface="Comic Sans MS" panose="030F0702030302020204" pitchFamily="66" charset="0"/>
              </a:rPr>
              <a:t>is_wicket</a:t>
            </a:r>
            <a:r>
              <a:rPr lang="en-US" sz="1600" dirty="0">
                <a:latin typeface="Comic Sans MS" panose="030F0702030302020204" pitchFamily="66" charset="0"/>
              </a:rPr>
              <a:t> = TRUE then 1 end),0)) as </a:t>
            </a:r>
            <a:r>
              <a:rPr lang="en-US" sz="1600" dirty="0" err="1">
                <a:latin typeface="Comic Sans MS" panose="030F0702030302020204" pitchFamily="66" charset="0"/>
              </a:rPr>
              <a:t>batting_average</a:t>
            </a:r>
            <a:r>
              <a:rPr lang="en-US" sz="1600" dirty="0">
                <a:latin typeface="Comic Sans MS" panose="030F0702030302020204" pitchFamily="66" charset="0"/>
              </a:rPr>
              <a:t> from </a:t>
            </a:r>
            <a:r>
              <a:rPr lang="en-US" sz="1600" dirty="0" err="1">
                <a:latin typeface="Comic Sans MS" panose="030F0702030302020204" pitchFamily="66" charset="0"/>
              </a:rPr>
              <a:t>ipl_ball</a:t>
            </a:r>
            <a:r>
              <a:rPr lang="en-US" sz="1600" dirty="0">
                <a:latin typeface="Comic Sans MS" panose="030F0702030302020204" pitchFamily="66" charset="0"/>
              </a:rPr>
              <a:t> Group by batsman;</a:t>
            </a:r>
          </a:p>
          <a:p>
            <a:pPr marL="0" indent="0">
              <a:lnSpc>
                <a:spcPct val="150000"/>
              </a:lnSpc>
              <a:buNone/>
            </a:pPr>
            <a:endParaRPr lang="en-US" sz="1600" dirty="0">
              <a:latin typeface="Comic Sans MS" panose="030F0702030302020204" pitchFamily="66" charset="0"/>
            </a:endParaRPr>
          </a:p>
          <a:p>
            <a:pPr marL="0" indent="0">
              <a:lnSpc>
                <a:spcPct val="150000"/>
              </a:lnSpc>
              <a:buNone/>
            </a:pPr>
            <a:r>
              <a:rPr lang="en-US" sz="1600" dirty="0">
                <a:latin typeface="Comic Sans MS" panose="030F0702030302020204" pitchFamily="66" charset="0"/>
              </a:rPr>
              <a:t>SELECT     </a:t>
            </a:r>
            <a:r>
              <a:rPr lang="en-US" sz="1600" dirty="0" err="1">
                <a:latin typeface="Comic Sans MS" panose="030F0702030302020204" pitchFamily="66" charset="0"/>
              </a:rPr>
              <a:t>b.batsman</a:t>
            </a:r>
            <a:r>
              <a:rPr lang="en-US" sz="1600" dirty="0">
                <a:latin typeface="Comic Sans MS" panose="030F0702030302020204" pitchFamily="66" charset="0"/>
              </a:rPr>
              <a:t>,    COUNT(DISTINCT EXTRACT(YEAR FROM </a:t>
            </a:r>
            <a:r>
              <a:rPr lang="en-US" sz="1600" dirty="0" err="1">
                <a:latin typeface="Comic Sans MS" panose="030F0702030302020204" pitchFamily="66" charset="0"/>
              </a:rPr>
              <a:t>a.date</a:t>
            </a:r>
            <a:r>
              <a:rPr lang="en-US" sz="1600" dirty="0">
                <a:latin typeface="Comic Sans MS" panose="030F0702030302020204" pitchFamily="66" charset="0"/>
              </a:rPr>
              <a:t>)) AS </a:t>
            </a:r>
            <a:r>
              <a:rPr lang="en-US" sz="1600" dirty="0" err="1">
                <a:latin typeface="Comic Sans MS" panose="030F0702030302020204" pitchFamily="66" charset="0"/>
              </a:rPr>
              <a:t>ipl_season_played</a:t>
            </a:r>
            <a:r>
              <a:rPr lang="en-US" sz="1600" dirty="0">
                <a:latin typeface="Comic Sans MS" panose="030F0702030302020204" pitchFamily="66" charset="0"/>
              </a:rPr>
              <a:t>  FROM     ipl_matches1 AS a LEFT JOIN     </a:t>
            </a:r>
            <a:r>
              <a:rPr lang="en-US" sz="1600" dirty="0" err="1">
                <a:latin typeface="Comic Sans MS" panose="030F0702030302020204" pitchFamily="66" charset="0"/>
              </a:rPr>
              <a:t>ipl_ball</a:t>
            </a:r>
            <a:r>
              <a:rPr lang="en-US" sz="1600" dirty="0">
                <a:latin typeface="Comic Sans MS" panose="030F0702030302020204" pitchFamily="66" charset="0"/>
              </a:rPr>
              <a:t> AS b ON a.id = b.id GROUP BY     </a:t>
            </a:r>
            <a:r>
              <a:rPr lang="en-US" sz="1600" dirty="0" err="1">
                <a:latin typeface="Comic Sans MS" panose="030F0702030302020204" pitchFamily="66" charset="0"/>
              </a:rPr>
              <a:t>b.batsman</a:t>
            </a:r>
            <a:r>
              <a:rPr lang="en-US" sz="1600" dirty="0">
                <a:latin typeface="Comic Sans MS" panose="030F0702030302020204" pitchFamily="66" charset="0"/>
              </a:rPr>
              <a:t> HAVING     COUNT(DISTINCT EXTRACT(YEAR FROM </a:t>
            </a:r>
            <a:r>
              <a:rPr lang="en-US" sz="1600" dirty="0" err="1">
                <a:latin typeface="Comic Sans MS" panose="030F0702030302020204" pitchFamily="66" charset="0"/>
              </a:rPr>
              <a:t>a.date</a:t>
            </a:r>
            <a:r>
              <a:rPr lang="en-US" sz="1600" dirty="0">
                <a:latin typeface="Comic Sans MS" panose="030F0702030302020204" pitchFamily="66" charset="0"/>
              </a:rPr>
              <a:t>)) &gt; 2ORDER BY   </a:t>
            </a:r>
            <a:r>
              <a:rPr lang="en-US" sz="1600" dirty="0" err="1">
                <a:latin typeface="Comic Sans MS" panose="030F0702030302020204" pitchFamily="66" charset="0"/>
              </a:rPr>
              <a:t>ipl_season_played</a:t>
            </a:r>
            <a:r>
              <a:rPr lang="en-US" sz="1600" dirty="0">
                <a:latin typeface="Comic Sans MS" panose="030F0702030302020204" pitchFamily="66" charset="0"/>
              </a:rPr>
              <a:t> DESC;</a:t>
            </a:r>
          </a:p>
        </p:txBody>
      </p:sp>
    </p:spTree>
    <p:extLst>
      <p:ext uri="{BB962C8B-B14F-4D97-AF65-F5344CB8AC3E}">
        <p14:creationId xmlns:p14="http://schemas.microsoft.com/office/powerpoint/2010/main" val="889129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5B28A-7A2B-5B9F-1E5E-1C82A8170AE7}"/>
              </a:ext>
            </a:extLst>
          </p:cNvPr>
          <p:cNvSpPr>
            <a:spLocks noGrp="1"/>
          </p:cNvSpPr>
          <p:nvPr>
            <p:ph type="title"/>
          </p:nvPr>
        </p:nvSpPr>
        <p:spPr/>
        <p:txBody>
          <a:bodyPr/>
          <a:lstStyle/>
          <a:p>
            <a:r>
              <a:rPr lang="en-US" dirty="0"/>
              <a:t>Codes for 2-3 players with good average and must have played 2 </a:t>
            </a:r>
            <a:r>
              <a:rPr lang="en-US" dirty="0" err="1"/>
              <a:t>ipl</a:t>
            </a:r>
            <a:r>
              <a:rPr lang="en-US" dirty="0"/>
              <a:t> season.</a:t>
            </a:r>
          </a:p>
        </p:txBody>
      </p:sp>
      <p:sp>
        <p:nvSpPr>
          <p:cNvPr id="3" name="Content Placeholder 2">
            <a:extLst>
              <a:ext uri="{FF2B5EF4-FFF2-40B4-BE49-F238E27FC236}">
                <a16:creationId xmlns:a16="http://schemas.microsoft.com/office/drawing/2014/main" id="{36B89D5E-0E65-EF87-EDE7-E260B9C37903}"/>
              </a:ext>
            </a:extLst>
          </p:cNvPr>
          <p:cNvSpPr>
            <a:spLocks noGrp="1"/>
          </p:cNvSpPr>
          <p:nvPr>
            <p:ph idx="1"/>
          </p:nvPr>
        </p:nvSpPr>
        <p:spPr/>
        <p:txBody>
          <a:bodyPr>
            <a:normAutofit/>
          </a:bodyPr>
          <a:lstStyle/>
          <a:p>
            <a:pPr marL="0" indent="0">
              <a:lnSpc>
                <a:spcPct val="150000"/>
              </a:lnSpc>
              <a:buNone/>
            </a:pPr>
            <a:r>
              <a:rPr lang="en-US" sz="1600" dirty="0">
                <a:latin typeface="Georgia" panose="02040502050405020303" pitchFamily="18" charset="0"/>
              </a:rPr>
              <a:t>SELECT     </a:t>
            </a:r>
            <a:r>
              <a:rPr lang="en-US" sz="1600" dirty="0" err="1">
                <a:latin typeface="Georgia" panose="02040502050405020303" pitchFamily="18" charset="0"/>
              </a:rPr>
              <a:t>bs.batsman</a:t>
            </a:r>
            <a:r>
              <a:rPr lang="en-US" sz="1600" dirty="0">
                <a:latin typeface="Georgia" panose="02040502050405020303" pitchFamily="18" charset="0"/>
              </a:rPr>
              <a:t>,    </a:t>
            </a:r>
            <a:r>
              <a:rPr lang="en-US" sz="1600" dirty="0" err="1">
                <a:latin typeface="Georgia" panose="02040502050405020303" pitchFamily="18" charset="0"/>
              </a:rPr>
              <a:t>bs.batting_average</a:t>
            </a:r>
            <a:r>
              <a:rPr lang="en-US" sz="1600" dirty="0">
                <a:latin typeface="Georgia" panose="02040502050405020303" pitchFamily="18" charset="0"/>
              </a:rPr>
              <a:t>,    </a:t>
            </a:r>
            <a:r>
              <a:rPr lang="en-US" sz="1600" dirty="0" err="1">
                <a:latin typeface="Georgia" panose="02040502050405020303" pitchFamily="18" charset="0"/>
              </a:rPr>
              <a:t>bs.total_runs</a:t>
            </a:r>
            <a:r>
              <a:rPr lang="en-US" sz="1600" dirty="0">
                <a:latin typeface="Georgia" panose="02040502050405020303" pitchFamily="18" charset="0"/>
              </a:rPr>
              <a:t>,    </a:t>
            </a:r>
            <a:r>
              <a:rPr lang="en-US" sz="1600" dirty="0" err="1">
                <a:latin typeface="Georgia" panose="02040502050405020303" pitchFamily="18" charset="0"/>
              </a:rPr>
              <a:t>bs.dismissals</a:t>
            </a:r>
            <a:r>
              <a:rPr lang="en-US" sz="1600" dirty="0">
                <a:latin typeface="Georgia" panose="02040502050405020303" pitchFamily="18" charset="0"/>
              </a:rPr>
              <a:t>,    </a:t>
            </a:r>
            <a:r>
              <a:rPr lang="en-US" sz="1600" dirty="0" err="1">
                <a:latin typeface="Georgia" panose="02040502050405020303" pitchFamily="18" charset="0"/>
              </a:rPr>
              <a:t>sp.ipl_season_playedFROM</a:t>
            </a:r>
            <a:r>
              <a:rPr lang="en-US" sz="1600" dirty="0">
                <a:latin typeface="Georgia" panose="02040502050405020303" pitchFamily="18" charset="0"/>
              </a:rPr>
              <a:t>     (        SELECT             </a:t>
            </a:r>
            <a:r>
              <a:rPr lang="en-US" sz="1600" dirty="0" err="1">
                <a:latin typeface="Georgia" panose="02040502050405020303" pitchFamily="18" charset="0"/>
              </a:rPr>
              <a:t>b.batsman</a:t>
            </a:r>
            <a:r>
              <a:rPr lang="en-US" sz="1600" dirty="0">
                <a:latin typeface="Georgia" panose="02040502050405020303" pitchFamily="18" charset="0"/>
              </a:rPr>
              <a:t>,            SUM(</a:t>
            </a:r>
            <a:r>
              <a:rPr lang="en-US" sz="1600" dirty="0" err="1">
                <a:latin typeface="Georgia" panose="02040502050405020303" pitchFamily="18" charset="0"/>
              </a:rPr>
              <a:t>b.batsman_runs</a:t>
            </a:r>
            <a:r>
              <a:rPr lang="en-US" sz="1600" dirty="0">
                <a:latin typeface="Georgia" panose="02040502050405020303" pitchFamily="18" charset="0"/>
              </a:rPr>
              <a:t>) AS </a:t>
            </a:r>
            <a:r>
              <a:rPr lang="en-US" sz="1600" dirty="0" err="1">
                <a:latin typeface="Georgia" panose="02040502050405020303" pitchFamily="18" charset="0"/>
              </a:rPr>
              <a:t>total_runs</a:t>
            </a:r>
            <a:r>
              <a:rPr lang="en-US" sz="1600" dirty="0">
                <a:latin typeface="Georgia" panose="02040502050405020303" pitchFamily="18" charset="0"/>
              </a:rPr>
              <a:t>,            COUNT(CASE WHEN </a:t>
            </a:r>
            <a:r>
              <a:rPr lang="en-US" sz="1600" dirty="0" err="1">
                <a:latin typeface="Georgia" panose="02040502050405020303" pitchFamily="18" charset="0"/>
              </a:rPr>
              <a:t>b.is_wicket</a:t>
            </a:r>
            <a:r>
              <a:rPr lang="en-US" sz="1600" dirty="0">
                <a:latin typeface="Georgia" panose="02040502050405020303" pitchFamily="18" charset="0"/>
              </a:rPr>
              <a:t> = TRUE THEN 1 END) AS dismissals,            SUM(</a:t>
            </a:r>
            <a:r>
              <a:rPr lang="en-US" sz="1600" dirty="0" err="1">
                <a:latin typeface="Georgia" panose="02040502050405020303" pitchFamily="18" charset="0"/>
              </a:rPr>
              <a:t>b.batsman_runs</a:t>
            </a:r>
            <a:r>
              <a:rPr lang="en-US" sz="1600" dirty="0">
                <a:latin typeface="Georgia" panose="02040502050405020303" pitchFamily="18" charset="0"/>
              </a:rPr>
              <a:t>) * 1.0 / NULLIF(COUNT(CASE WHEN </a:t>
            </a:r>
            <a:r>
              <a:rPr lang="en-US" sz="1600" dirty="0" err="1">
                <a:latin typeface="Georgia" panose="02040502050405020303" pitchFamily="18" charset="0"/>
              </a:rPr>
              <a:t>b.is_wicket</a:t>
            </a:r>
            <a:r>
              <a:rPr lang="en-US" sz="1600" dirty="0">
                <a:latin typeface="Georgia" panose="02040502050405020303" pitchFamily="18" charset="0"/>
              </a:rPr>
              <a:t> = TRUE THEN 1 END), 0) AS </a:t>
            </a:r>
            <a:r>
              <a:rPr lang="en-US" sz="1600" dirty="0" err="1">
                <a:latin typeface="Georgia" panose="02040502050405020303" pitchFamily="18" charset="0"/>
              </a:rPr>
              <a:t>batting_average</a:t>
            </a:r>
            <a:r>
              <a:rPr lang="en-US" sz="1600" dirty="0">
                <a:latin typeface="Georgia" panose="02040502050405020303" pitchFamily="18" charset="0"/>
              </a:rPr>
              <a:t>        FROM             </a:t>
            </a:r>
            <a:r>
              <a:rPr lang="en-US" sz="1600" dirty="0" err="1">
                <a:latin typeface="Georgia" panose="02040502050405020303" pitchFamily="18" charset="0"/>
              </a:rPr>
              <a:t>ipl_ball</a:t>
            </a:r>
            <a:r>
              <a:rPr lang="en-US" sz="1600" dirty="0">
                <a:latin typeface="Georgia" panose="02040502050405020303" pitchFamily="18" charset="0"/>
              </a:rPr>
              <a:t> AS b        GROUP BY             </a:t>
            </a:r>
            <a:r>
              <a:rPr lang="en-US" sz="1600" dirty="0" err="1">
                <a:latin typeface="Georgia" panose="02040502050405020303" pitchFamily="18" charset="0"/>
              </a:rPr>
              <a:t>b.batsman</a:t>
            </a:r>
            <a:r>
              <a:rPr lang="en-US" sz="1600" dirty="0">
                <a:latin typeface="Georgia" panose="02040502050405020303" pitchFamily="18" charset="0"/>
              </a:rPr>
              <a:t>    ) AS </a:t>
            </a:r>
            <a:r>
              <a:rPr lang="en-US" sz="1600" dirty="0" err="1">
                <a:latin typeface="Georgia" panose="02040502050405020303" pitchFamily="18" charset="0"/>
              </a:rPr>
              <a:t>bsJOIN</a:t>
            </a:r>
            <a:r>
              <a:rPr lang="en-US" sz="1600" dirty="0">
                <a:latin typeface="Georgia" panose="02040502050405020303" pitchFamily="18" charset="0"/>
              </a:rPr>
              <a:t>     (        SELECT             </a:t>
            </a:r>
            <a:r>
              <a:rPr lang="en-US" sz="1600" dirty="0" err="1">
                <a:latin typeface="Georgia" panose="02040502050405020303" pitchFamily="18" charset="0"/>
              </a:rPr>
              <a:t>b.batsman</a:t>
            </a:r>
            <a:r>
              <a:rPr lang="en-US" sz="1600" dirty="0">
                <a:latin typeface="Georgia" panose="02040502050405020303" pitchFamily="18" charset="0"/>
              </a:rPr>
              <a:t>,            COUNT(DISTINCT EXTRACT(YEAR FROM </a:t>
            </a:r>
            <a:r>
              <a:rPr lang="en-US" sz="1600" dirty="0" err="1">
                <a:latin typeface="Georgia" panose="02040502050405020303" pitchFamily="18" charset="0"/>
              </a:rPr>
              <a:t>a.date</a:t>
            </a:r>
            <a:r>
              <a:rPr lang="en-US" sz="1600" dirty="0">
                <a:latin typeface="Georgia" panose="02040502050405020303" pitchFamily="18" charset="0"/>
              </a:rPr>
              <a:t>)) AS </a:t>
            </a:r>
            <a:r>
              <a:rPr lang="en-US" sz="1600" dirty="0" err="1">
                <a:latin typeface="Georgia" panose="02040502050405020303" pitchFamily="18" charset="0"/>
              </a:rPr>
              <a:t>ipl_season_played</a:t>
            </a:r>
            <a:r>
              <a:rPr lang="en-US" sz="1600" dirty="0">
                <a:latin typeface="Georgia" panose="02040502050405020303" pitchFamily="18" charset="0"/>
              </a:rPr>
              <a:t>        FROM             ipl_matches1 AS a        LEFT JOIN             </a:t>
            </a:r>
            <a:r>
              <a:rPr lang="en-US" sz="1600" dirty="0" err="1">
                <a:latin typeface="Georgia" panose="02040502050405020303" pitchFamily="18" charset="0"/>
              </a:rPr>
              <a:t>ipl_ball</a:t>
            </a:r>
            <a:r>
              <a:rPr lang="en-US" sz="1600" dirty="0">
                <a:latin typeface="Georgia" panose="02040502050405020303" pitchFamily="18" charset="0"/>
              </a:rPr>
              <a:t> AS b ON a.id = b.id        GROUP BY             </a:t>
            </a:r>
            <a:r>
              <a:rPr lang="en-US" sz="1600" dirty="0" err="1">
                <a:latin typeface="Georgia" panose="02040502050405020303" pitchFamily="18" charset="0"/>
              </a:rPr>
              <a:t>b.batsman</a:t>
            </a:r>
            <a:r>
              <a:rPr lang="en-US" sz="1600" dirty="0">
                <a:latin typeface="Georgia" panose="02040502050405020303" pitchFamily="18" charset="0"/>
              </a:rPr>
              <a:t>        HAVING             COUNT(DISTINCT EXTRACT(YEAR FROM </a:t>
            </a:r>
            <a:r>
              <a:rPr lang="en-US" sz="1600" dirty="0" err="1">
                <a:latin typeface="Georgia" panose="02040502050405020303" pitchFamily="18" charset="0"/>
              </a:rPr>
              <a:t>a.date</a:t>
            </a:r>
            <a:r>
              <a:rPr lang="en-US" sz="1600" dirty="0">
                <a:latin typeface="Georgia" panose="02040502050405020303" pitchFamily="18" charset="0"/>
              </a:rPr>
              <a:t>)) &gt; 2    ) AS </a:t>
            </a:r>
            <a:r>
              <a:rPr lang="en-US" sz="1600" dirty="0" err="1">
                <a:latin typeface="Georgia" panose="02040502050405020303" pitchFamily="18" charset="0"/>
              </a:rPr>
              <a:t>sp</a:t>
            </a:r>
            <a:r>
              <a:rPr lang="en-US" sz="1600" dirty="0">
                <a:latin typeface="Georgia" panose="02040502050405020303" pitchFamily="18" charset="0"/>
              </a:rPr>
              <a:t> ON </a:t>
            </a:r>
            <a:r>
              <a:rPr lang="en-US" sz="1600" dirty="0" err="1">
                <a:latin typeface="Georgia" panose="02040502050405020303" pitchFamily="18" charset="0"/>
              </a:rPr>
              <a:t>bs.batsman</a:t>
            </a:r>
            <a:r>
              <a:rPr lang="en-US" sz="1600" dirty="0">
                <a:latin typeface="Georgia" panose="02040502050405020303" pitchFamily="18" charset="0"/>
              </a:rPr>
              <a:t> = </a:t>
            </a:r>
            <a:r>
              <a:rPr lang="en-US" sz="1600" dirty="0" err="1">
                <a:latin typeface="Georgia" panose="02040502050405020303" pitchFamily="18" charset="0"/>
              </a:rPr>
              <a:t>sp.batsman</a:t>
            </a:r>
            <a:r>
              <a:rPr lang="en-US" sz="1600" dirty="0">
                <a:latin typeface="Georgia" panose="02040502050405020303" pitchFamily="18" charset="0"/>
              </a:rPr>
              <a:t> ORDER BY     </a:t>
            </a:r>
            <a:r>
              <a:rPr lang="en-US" sz="1600" dirty="0" err="1">
                <a:latin typeface="Georgia" panose="02040502050405020303" pitchFamily="18" charset="0"/>
              </a:rPr>
              <a:t>bs.batting_average</a:t>
            </a:r>
            <a:r>
              <a:rPr lang="en-US" sz="1600">
                <a:latin typeface="Georgia" panose="02040502050405020303" pitchFamily="18" charset="0"/>
              </a:rPr>
              <a:t> DESC LIMIT </a:t>
            </a:r>
            <a:r>
              <a:rPr lang="en-US" sz="1600" dirty="0">
                <a:latin typeface="Georgia" panose="02040502050405020303" pitchFamily="18" charset="0"/>
              </a:rPr>
              <a:t>10;</a:t>
            </a:r>
          </a:p>
        </p:txBody>
      </p:sp>
    </p:spTree>
    <p:extLst>
      <p:ext uri="{BB962C8B-B14F-4D97-AF65-F5344CB8AC3E}">
        <p14:creationId xmlns:p14="http://schemas.microsoft.com/office/powerpoint/2010/main" val="171131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7" name="Oval 16">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8D3FFDB-25BA-D887-75A7-C8E7CAB798E0}"/>
              </a:ext>
            </a:extLst>
          </p:cNvPr>
          <p:cNvSpPr>
            <a:spLocks noGrp="1"/>
          </p:cNvSpPr>
          <p:nvPr>
            <p:ph type="title"/>
          </p:nvPr>
        </p:nvSpPr>
        <p:spPr>
          <a:xfrm>
            <a:off x="630936" y="630936"/>
            <a:ext cx="5260992" cy="2096756"/>
          </a:xfrm>
          <a:noFill/>
        </p:spPr>
        <p:txBody>
          <a:bodyPr anchor="t">
            <a:normAutofit/>
          </a:bodyPr>
          <a:lstStyle/>
          <a:p>
            <a:r>
              <a:rPr lang="en-US" sz="4800">
                <a:solidFill>
                  <a:schemeClr val="bg1"/>
                </a:solidFill>
              </a:rPr>
              <a:t>Visual representation of charts and tables</a:t>
            </a:r>
          </a:p>
        </p:txBody>
      </p:sp>
      <p:sp>
        <p:nvSpPr>
          <p:cNvPr id="9" name="Content Placeholder 8">
            <a:extLst>
              <a:ext uri="{FF2B5EF4-FFF2-40B4-BE49-F238E27FC236}">
                <a16:creationId xmlns:a16="http://schemas.microsoft.com/office/drawing/2014/main" id="{912E7224-5016-4DF7-3426-97E3C259D389}"/>
              </a:ext>
            </a:extLst>
          </p:cNvPr>
          <p:cNvSpPr>
            <a:spLocks noGrp="1"/>
          </p:cNvSpPr>
          <p:nvPr>
            <p:ph idx="1"/>
          </p:nvPr>
        </p:nvSpPr>
        <p:spPr>
          <a:xfrm>
            <a:off x="6095996" y="630936"/>
            <a:ext cx="5064191" cy="2096769"/>
          </a:xfrm>
          <a:noFill/>
        </p:spPr>
        <p:txBody>
          <a:bodyPr anchor="t">
            <a:normAutofit/>
          </a:bodyPr>
          <a:lstStyle/>
          <a:p>
            <a:pPr marL="0" indent="0">
              <a:buNone/>
            </a:pPr>
            <a:r>
              <a:rPr lang="en-US" sz="1800" dirty="0">
                <a:solidFill>
                  <a:schemeClr val="bg1"/>
                </a:solidFill>
                <a:latin typeface="Comic Sans MS" panose="030F0702030302020204" pitchFamily="66" charset="0"/>
              </a:rPr>
              <a:t>Based on the charts and graphs, we have identified the top 10 auction players with good averages who have played at least 2 IPL seasons. Given our finances, we can consider bidding for 2-3 of these players, as their averages are similar, except for Abdulla, who stands out with the best and widest margin among them.</a:t>
            </a:r>
          </a:p>
        </p:txBody>
      </p:sp>
      <p:sp>
        <p:nvSpPr>
          <p:cNvPr id="24" name="Rectangle 23">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5" name="Straight Connector 34">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Content Placeholder 4" descr="A screenshot of a graph&#10;&#10;Description automatically generated">
            <a:extLst>
              <a:ext uri="{FF2B5EF4-FFF2-40B4-BE49-F238E27FC236}">
                <a16:creationId xmlns:a16="http://schemas.microsoft.com/office/drawing/2014/main" id="{6BF9C8E8-754D-8EF8-71BB-F90946EE92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359" y="2987717"/>
            <a:ext cx="10843065" cy="3286622"/>
          </a:xfrm>
          <a:prstGeom prst="rect">
            <a:avLst/>
          </a:prstGeom>
        </p:spPr>
      </p:pic>
      <p:grpSp>
        <p:nvGrpSpPr>
          <p:cNvPr id="40" name="Group 39">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41" name="Straight Connector 40">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3691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A9D7-5C81-CF3B-5A27-6AA742B088A4}"/>
              </a:ext>
            </a:extLst>
          </p:cNvPr>
          <p:cNvSpPr>
            <a:spLocks noGrp="1"/>
          </p:cNvSpPr>
          <p:nvPr>
            <p:ph type="title"/>
          </p:nvPr>
        </p:nvSpPr>
        <p:spPr>
          <a:xfrm>
            <a:off x="587477" y="247138"/>
            <a:ext cx="10515600" cy="1325563"/>
          </a:xfrm>
        </p:spPr>
        <p:txBody>
          <a:bodyPr>
            <a:normAutofit/>
          </a:bodyPr>
          <a:lstStyle/>
          <a:p>
            <a:r>
              <a:rPr lang="en-US" sz="3600" dirty="0"/>
              <a:t>2-3 Hard-hitting players who have scored most runs in boundaries and have played more than 2 </a:t>
            </a:r>
            <a:r>
              <a:rPr lang="en-US" sz="3600" dirty="0" err="1"/>
              <a:t>ipl</a:t>
            </a:r>
            <a:r>
              <a:rPr lang="en-US" sz="3600" dirty="0"/>
              <a:t> season</a:t>
            </a:r>
          </a:p>
        </p:txBody>
      </p:sp>
      <p:sp>
        <p:nvSpPr>
          <p:cNvPr id="3" name="Content Placeholder 2">
            <a:extLst>
              <a:ext uri="{FF2B5EF4-FFF2-40B4-BE49-F238E27FC236}">
                <a16:creationId xmlns:a16="http://schemas.microsoft.com/office/drawing/2014/main" id="{20EB4B5C-4D78-F608-105F-5CB6232A9B5D}"/>
              </a:ext>
            </a:extLst>
          </p:cNvPr>
          <p:cNvSpPr>
            <a:spLocks noGrp="1"/>
          </p:cNvSpPr>
          <p:nvPr>
            <p:ph idx="1"/>
          </p:nvPr>
        </p:nvSpPr>
        <p:spPr/>
        <p:txBody>
          <a:bodyPr>
            <a:normAutofit/>
          </a:bodyPr>
          <a:lstStyle/>
          <a:p>
            <a:pPr marL="0" indent="0">
              <a:buNone/>
            </a:pPr>
            <a:r>
              <a:rPr lang="en-US" sz="2400" dirty="0">
                <a:latin typeface="Comic Sans MS" panose="030F0702030302020204" pitchFamily="66" charset="0"/>
              </a:rPr>
              <a:t>The goal is to find the top 10 hard-hitting players who have scored the most runs through boundaries and have participated in more than two IPL seasons. We will follow these steps to accomplish this: </a:t>
            </a:r>
          </a:p>
          <a:p>
            <a:pPr marL="0" indent="0">
              <a:buNone/>
            </a:pPr>
            <a:r>
              <a:rPr lang="en-US" sz="2400" dirty="0">
                <a:latin typeface="Comic Sans MS" panose="030F0702030302020204" pitchFamily="66" charset="0"/>
              </a:rPr>
              <a:t>Calculate the total number of boundaries (fours and sixes) for each player. </a:t>
            </a:r>
          </a:p>
          <a:p>
            <a:pPr marL="0" indent="0">
              <a:buNone/>
            </a:pPr>
            <a:r>
              <a:rPr lang="en-US" sz="2400" dirty="0">
                <a:latin typeface="Comic Sans MS" panose="030F0702030302020204" pitchFamily="66" charset="0"/>
              </a:rPr>
              <a:t>Determine the total runs scored by each player. </a:t>
            </a:r>
          </a:p>
          <a:p>
            <a:pPr marL="0" indent="0">
              <a:buNone/>
            </a:pPr>
            <a:r>
              <a:rPr lang="en-US" sz="2400" dirty="0">
                <a:latin typeface="Comic Sans MS" panose="030F0702030302020204" pitchFamily="66" charset="0"/>
              </a:rPr>
              <a:t>Calculate the boundary percentage for each player and take it into consideration. </a:t>
            </a:r>
          </a:p>
          <a:p>
            <a:pPr marL="0" indent="0">
              <a:buNone/>
            </a:pPr>
            <a:r>
              <a:rPr lang="en-US" sz="2400" dirty="0">
                <a:latin typeface="Comic Sans MS" panose="030F0702030302020204" pitchFamily="66" charset="0"/>
              </a:rPr>
              <a:t>Identify players who have played more than 2 IPL seasons. 5. Rank the players based on their boundary percentage and select the top 10 players.</a:t>
            </a:r>
          </a:p>
          <a:p>
            <a:pPr marL="0" indent="0">
              <a:buNone/>
            </a:pPr>
            <a:endParaRPr lang="en-US" sz="2000" dirty="0">
              <a:latin typeface="Georgia" panose="02040502050405020303" pitchFamily="18" charset="0"/>
            </a:endParaRPr>
          </a:p>
        </p:txBody>
      </p:sp>
    </p:spTree>
    <p:extLst>
      <p:ext uri="{BB962C8B-B14F-4D97-AF65-F5344CB8AC3E}">
        <p14:creationId xmlns:p14="http://schemas.microsoft.com/office/powerpoint/2010/main" val="2595360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E7A8-4F9C-0439-E220-27FDAA19919D}"/>
              </a:ext>
            </a:extLst>
          </p:cNvPr>
          <p:cNvSpPr>
            <a:spLocks noGrp="1"/>
          </p:cNvSpPr>
          <p:nvPr>
            <p:ph type="title"/>
          </p:nvPr>
        </p:nvSpPr>
        <p:spPr/>
        <p:txBody>
          <a:bodyPr>
            <a:normAutofit/>
          </a:bodyPr>
          <a:lstStyle/>
          <a:p>
            <a:r>
              <a:rPr lang="en-US" sz="3200" dirty="0"/>
              <a:t>Code for 2-3 Hard-hitting players who have scored most runs in boundaries and have played more the 2 </a:t>
            </a:r>
            <a:r>
              <a:rPr lang="en-US" sz="3200" dirty="0" err="1"/>
              <a:t>ipl</a:t>
            </a:r>
            <a:r>
              <a:rPr lang="en-US" sz="3200" dirty="0"/>
              <a:t> season.</a:t>
            </a:r>
          </a:p>
        </p:txBody>
      </p:sp>
      <p:sp>
        <p:nvSpPr>
          <p:cNvPr id="3" name="Content Placeholder 2">
            <a:extLst>
              <a:ext uri="{FF2B5EF4-FFF2-40B4-BE49-F238E27FC236}">
                <a16:creationId xmlns:a16="http://schemas.microsoft.com/office/drawing/2014/main" id="{4D8C2FC2-0F29-56FE-0649-F65282A7F8B9}"/>
              </a:ext>
            </a:extLst>
          </p:cNvPr>
          <p:cNvSpPr>
            <a:spLocks noGrp="1"/>
          </p:cNvSpPr>
          <p:nvPr>
            <p:ph idx="1"/>
          </p:nvPr>
        </p:nvSpPr>
        <p:spPr/>
        <p:txBody>
          <a:bodyPr>
            <a:normAutofit/>
          </a:bodyPr>
          <a:lstStyle/>
          <a:p>
            <a:pPr marL="0" indent="0">
              <a:buNone/>
            </a:pPr>
            <a:r>
              <a:rPr lang="en-US" sz="2000" dirty="0">
                <a:latin typeface="Georgia" panose="02040502050405020303" pitchFamily="18" charset="0"/>
              </a:rPr>
              <a:t>select 	</a:t>
            </a:r>
            <a:r>
              <a:rPr lang="en-US" sz="2000" dirty="0" err="1">
                <a:latin typeface="Georgia" panose="02040502050405020303" pitchFamily="18" charset="0"/>
              </a:rPr>
              <a:t>a.batsman</a:t>
            </a:r>
            <a:r>
              <a:rPr lang="en-US" sz="2000" dirty="0">
                <a:latin typeface="Georgia" panose="02040502050405020303" pitchFamily="18" charset="0"/>
              </a:rPr>
              <a:t> ,</a:t>
            </a:r>
            <a:r>
              <a:rPr lang="en-US" sz="2000" dirty="0" err="1">
                <a:latin typeface="Georgia" panose="02040502050405020303" pitchFamily="18" charset="0"/>
              </a:rPr>
              <a:t>a.total_runs</a:t>
            </a:r>
            <a:r>
              <a:rPr lang="en-US" sz="2000" dirty="0">
                <a:latin typeface="Georgia" panose="02040502050405020303" pitchFamily="18" charset="0"/>
              </a:rPr>
              <a:t>,(</a:t>
            </a:r>
            <a:r>
              <a:rPr lang="en-US" sz="2000" dirty="0" err="1">
                <a:latin typeface="Georgia" panose="02040502050405020303" pitchFamily="18" charset="0"/>
              </a:rPr>
              <a:t>a.runs_in_fours</a:t>
            </a:r>
            <a:r>
              <a:rPr lang="en-US" sz="2000" dirty="0">
                <a:latin typeface="Georgia" panose="02040502050405020303" pitchFamily="18" charset="0"/>
              </a:rPr>
              <a:t> + </a:t>
            </a:r>
            <a:r>
              <a:rPr lang="en-US" sz="2000" dirty="0" err="1">
                <a:latin typeface="Georgia" panose="02040502050405020303" pitchFamily="18" charset="0"/>
              </a:rPr>
              <a:t>a.runs_in_sixes</a:t>
            </a:r>
            <a:r>
              <a:rPr lang="en-US" sz="2000" dirty="0">
                <a:latin typeface="Georgia" panose="02040502050405020303" pitchFamily="18" charset="0"/>
              </a:rPr>
              <a:t>) as </a:t>
            </a:r>
            <a:r>
              <a:rPr lang="en-US" sz="2000" dirty="0" err="1">
                <a:latin typeface="Georgia" panose="02040502050405020303" pitchFamily="18" charset="0"/>
              </a:rPr>
              <a:t>boundaries_runs</a:t>
            </a:r>
            <a:r>
              <a:rPr lang="en-US" sz="2000" dirty="0">
                <a:latin typeface="Georgia" panose="02040502050405020303" pitchFamily="18" charset="0"/>
              </a:rPr>
              <a:t>,(</a:t>
            </a:r>
            <a:r>
              <a:rPr lang="en-US" sz="2000" dirty="0" err="1">
                <a:latin typeface="Georgia" panose="02040502050405020303" pitchFamily="18" charset="0"/>
              </a:rPr>
              <a:t>a.runs_in_fours</a:t>
            </a:r>
            <a:r>
              <a:rPr lang="en-US" sz="2000" dirty="0">
                <a:latin typeface="Georgia" panose="02040502050405020303" pitchFamily="18" charset="0"/>
              </a:rPr>
              <a:t> + </a:t>
            </a:r>
            <a:r>
              <a:rPr lang="en-US" sz="2000" dirty="0" err="1">
                <a:latin typeface="Georgia" panose="02040502050405020303" pitchFamily="18" charset="0"/>
              </a:rPr>
              <a:t>a.runs_in_sixes</a:t>
            </a:r>
            <a:r>
              <a:rPr lang="en-US" sz="2000" dirty="0">
                <a:latin typeface="Georgia" panose="02040502050405020303" pitchFamily="18" charset="0"/>
              </a:rPr>
              <a:t>) * 1.0/</a:t>
            </a:r>
            <a:r>
              <a:rPr lang="en-US" sz="2000" dirty="0" err="1">
                <a:latin typeface="Georgia" panose="02040502050405020303" pitchFamily="18" charset="0"/>
              </a:rPr>
              <a:t>a.total_runs</a:t>
            </a:r>
            <a:r>
              <a:rPr lang="en-US" sz="2000" dirty="0">
                <a:latin typeface="Georgia" panose="02040502050405020303" pitchFamily="18" charset="0"/>
              </a:rPr>
              <a:t> as </a:t>
            </a:r>
            <a:r>
              <a:rPr lang="en-US" sz="2000" dirty="0" err="1">
                <a:latin typeface="Georgia" panose="02040502050405020303" pitchFamily="18" charset="0"/>
              </a:rPr>
              <a:t>boundary_percentagefrom</a:t>
            </a:r>
            <a:r>
              <a:rPr lang="en-US" sz="2000" dirty="0">
                <a:latin typeface="Georgia" panose="02040502050405020303" pitchFamily="18" charset="0"/>
              </a:rPr>
              <a:t>(select </a:t>
            </a:r>
            <a:r>
              <a:rPr lang="en-US" sz="2000" dirty="0" err="1">
                <a:latin typeface="Georgia" panose="02040502050405020303" pitchFamily="18" charset="0"/>
              </a:rPr>
              <a:t>batsman,sum</a:t>
            </a:r>
            <a:r>
              <a:rPr lang="en-US" sz="2000" dirty="0">
                <a:latin typeface="Georgia" panose="02040502050405020303" pitchFamily="18" charset="0"/>
              </a:rPr>
              <a:t>(case when </a:t>
            </a:r>
            <a:r>
              <a:rPr lang="en-US" sz="2000" dirty="0" err="1">
                <a:latin typeface="Georgia" panose="02040502050405020303" pitchFamily="18" charset="0"/>
              </a:rPr>
              <a:t>batsman_runs</a:t>
            </a:r>
            <a:r>
              <a:rPr lang="en-US" sz="2000" dirty="0">
                <a:latin typeface="Georgia" panose="02040502050405020303" pitchFamily="18" charset="0"/>
              </a:rPr>
              <a:t> = 4 then 4 else 0 end) as </a:t>
            </a:r>
            <a:r>
              <a:rPr lang="en-US" sz="2000" dirty="0" err="1">
                <a:latin typeface="Georgia" panose="02040502050405020303" pitchFamily="18" charset="0"/>
              </a:rPr>
              <a:t>runs_in_fours,sum</a:t>
            </a:r>
            <a:r>
              <a:rPr lang="en-US" sz="2000" dirty="0">
                <a:latin typeface="Georgia" panose="02040502050405020303" pitchFamily="18" charset="0"/>
              </a:rPr>
              <a:t>(case when </a:t>
            </a:r>
            <a:r>
              <a:rPr lang="en-US" sz="2000" dirty="0" err="1">
                <a:latin typeface="Georgia" panose="02040502050405020303" pitchFamily="18" charset="0"/>
              </a:rPr>
              <a:t>batsman_runs</a:t>
            </a:r>
            <a:r>
              <a:rPr lang="en-US" sz="2000" dirty="0">
                <a:latin typeface="Georgia" panose="02040502050405020303" pitchFamily="18" charset="0"/>
              </a:rPr>
              <a:t> = 6 then 6 else 0 end) as </a:t>
            </a:r>
            <a:r>
              <a:rPr lang="en-US" sz="2000" dirty="0" err="1">
                <a:latin typeface="Georgia" panose="02040502050405020303" pitchFamily="18" charset="0"/>
              </a:rPr>
              <a:t>runs_in_sixes</a:t>
            </a:r>
            <a:r>
              <a:rPr lang="en-US" sz="2000" dirty="0">
                <a:latin typeface="Georgia" panose="02040502050405020303" pitchFamily="18" charset="0"/>
              </a:rPr>
              <a:t>,	sum(</a:t>
            </a:r>
            <a:r>
              <a:rPr lang="en-US" sz="2000" dirty="0" err="1">
                <a:latin typeface="Georgia" panose="02040502050405020303" pitchFamily="18" charset="0"/>
              </a:rPr>
              <a:t>batsman_runs</a:t>
            </a:r>
            <a:r>
              <a:rPr lang="en-US" sz="2000" dirty="0">
                <a:latin typeface="Georgia" panose="02040502050405020303" pitchFamily="18" charset="0"/>
              </a:rPr>
              <a:t>) as </a:t>
            </a:r>
            <a:r>
              <a:rPr lang="en-US" sz="2000" dirty="0" err="1">
                <a:latin typeface="Georgia" panose="02040502050405020303" pitchFamily="18" charset="0"/>
              </a:rPr>
              <a:t>total_runs</a:t>
            </a:r>
            <a:r>
              <a:rPr lang="en-US" sz="2000" dirty="0">
                <a:latin typeface="Georgia" panose="02040502050405020303" pitchFamily="18" charset="0"/>
              </a:rPr>
              <a:t> from </a:t>
            </a:r>
            <a:r>
              <a:rPr lang="en-US" sz="2000" dirty="0" err="1">
                <a:latin typeface="Georgia" panose="02040502050405020303" pitchFamily="18" charset="0"/>
              </a:rPr>
              <a:t>ipl_ball</a:t>
            </a:r>
            <a:r>
              <a:rPr lang="en-US" sz="2000" dirty="0">
                <a:latin typeface="Georgia" panose="02040502050405020303" pitchFamily="18" charset="0"/>
              </a:rPr>
              <a:t> Group by batsman ) </a:t>
            </a:r>
            <a:r>
              <a:rPr lang="en-US" sz="2000" dirty="0" err="1">
                <a:latin typeface="Georgia" panose="02040502050405020303" pitchFamily="18" charset="0"/>
              </a:rPr>
              <a:t>aJoin</a:t>
            </a:r>
            <a:r>
              <a:rPr lang="en-US" sz="2000" dirty="0">
                <a:latin typeface="Georgia" panose="02040502050405020303" pitchFamily="18" charset="0"/>
              </a:rPr>
              <a:t> ( select 	</a:t>
            </a:r>
            <a:r>
              <a:rPr lang="en-US" sz="2000" dirty="0" err="1">
                <a:latin typeface="Georgia" panose="02040502050405020303" pitchFamily="18" charset="0"/>
              </a:rPr>
              <a:t>player_of_match</a:t>
            </a:r>
            <a:r>
              <a:rPr lang="en-US" sz="2000" dirty="0">
                <a:latin typeface="Georgia" panose="02040502050405020303" pitchFamily="18" charset="0"/>
              </a:rPr>
              <a:t> as batsman, count(distinct extract(year from date)) as </a:t>
            </a:r>
            <a:r>
              <a:rPr lang="en-US" sz="2000" dirty="0" err="1">
                <a:latin typeface="Georgia" panose="02040502050405020303" pitchFamily="18" charset="0"/>
              </a:rPr>
              <a:t>ipl_season_played</a:t>
            </a:r>
            <a:r>
              <a:rPr lang="en-US" sz="2000" dirty="0">
                <a:latin typeface="Georgia" panose="02040502050405020303" pitchFamily="18" charset="0"/>
              </a:rPr>
              <a:t> from ipl_matches1 Group by </a:t>
            </a:r>
            <a:r>
              <a:rPr lang="en-US" sz="2000" dirty="0" err="1">
                <a:latin typeface="Georgia" panose="02040502050405020303" pitchFamily="18" charset="0"/>
              </a:rPr>
              <a:t>player_of_match</a:t>
            </a:r>
            <a:r>
              <a:rPr lang="en-US" sz="2000" dirty="0">
                <a:latin typeface="Georgia" panose="02040502050405020303" pitchFamily="18" charset="0"/>
              </a:rPr>
              <a:t> Having count(distinct extract(year from date)) &gt; 2 ) b on </a:t>
            </a:r>
            <a:r>
              <a:rPr lang="en-US" sz="2000" dirty="0" err="1">
                <a:latin typeface="Georgia" panose="02040502050405020303" pitchFamily="18" charset="0"/>
              </a:rPr>
              <a:t>a.batsman</a:t>
            </a:r>
            <a:r>
              <a:rPr lang="en-US" sz="2000" dirty="0">
                <a:latin typeface="Georgia" panose="02040502050405020303" pitchFamily="18" charset="0"/>
              </a:rPr>
              <a:t> = </a:t>
            </a:r>
            <a:r>
              <a:rPr lang="en-US" sz="2000" dirty="0" err="1">
                <a:latin typeface="Georgia" panose="02040502050405020303" pitchFamily="18" charset="0"/>
              </a:rPr>
              <a:t>b.batsman</a:t>
            </a:r>
            <a:r>
              <a:rPr lang="en-US" sz="2000" dirty="0">
                <a:latin typeface="Georgia" panose="02040502050405020303" pitchFamily="18" charset="0"/>
              </a:rPr>
              <a:t> where </a:t>
            </a:r>
            <a:r>
              <a:rPr lang="en-US" sz="2000" dirty="0" err="1">
                <a:latin typeface="Georgia" panose="02040502050405020303" pitchFamily="18" charset="0"/>
              </a:rPr>
              <a:t>a.total_runs</a:t>
            </a:r>
            <a:r>
              <a:rPr lang="en-US" sz="2000" dirty="0">
                <a:latin typeface="Georgia" panose="02040502050405020303" pitchFamily="18" charset="0"/>
              </a:rPr>
              <a:t> &gt; 0 order by </a:t>
            </a:r>
            <a:r>
              <a:rPr lang="en-US" sz="2000" dirty="0" err="1">
                <a:latin typeface="Georgia" panose="02040502050405020303" pitchFamily="18" charset="0"/>
              </a:rPr>
              <a:t>boundary_percentage</a:t>
            </a:r>
            <a:r>
              <a:rPr lang="en-US" sz="2000" dirty="0">
                <a:latin typeface="Georgia" panose="02040502050405020303" pitchFamily="18" charset="0"/>
              </a:rPr>
              <a:t> </a:t>
            </a:r>
            <a:r>
              <a:rPr lang="en-US" sz="2000" dirty="0" err="1">
                <a:latin typeface="Georgia" panose="02040502050405020303" pitchFamily="18" charset="0"/>
              </a:rPr>
              <a:t>descLimit</a:t>
            </a:r>
            <a:r>
              <a:rPr lang="en-US" sz="2000" dirty="0">
                <a:latin typeface="Georgia" panose="02040502050405020303" pitchFamily="18" charset="0"/>
              </a:rPr>
              <a:t> 10;</a:t>
            </a:r>
          </a:p>
        </p:txBody>
      </p:sp>
    </p:spTree>
    <p:extLst>
      <p:ext uri="{BB962C8B-B14F-4D97-AF65-F5344CB8AC3E}">
        <p14:creationId xmlns:p14="http://schemas.microsoft.com/office/powerpoint/2010/main" val="2241018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9B40C2-11E8-6D9B-4FC3-29459548AFAB}"/>
              </a:ext>
            </a:extLst>
          </p:cNvPr>
          <p:cNvSpPr>
            <a:spLocks noGrp="1"/>
          </p:cNvSpPr>
          <p:nvPr>
            <p:ph type="title"/>
          </p:nvPr>
        </p:nvSpPr>
        <p:spPr>
          <a:xfrm>
            <a:off x="818984" y="4230093"/>
            <a:ext cx="4150581" cy="1800165"/>
          </a:xfrm>
        </p:spPr>
        <p:txBody>
          <a:bodyPr anchor="t">
            <a:normAutofit/>
          </a:bodyPr>
          <a:lstStyle/>
          <a:p>
            <a:pPr algn="r"/>
            <a:r>
              <a:rPr lang="en-US" sz="4000"/>
              <a:t>Visualization: Table and charts for hard-hitters</a:t>
            </a:r>
          </a:p>
        </p:txBody>
      </p:sp>
      <p:pic>
        <p:nvPicPr>
          <p:cNvPr id="9" name="Content Placeholder 8" descr="A screenshot of a graph&#10;&#10;Description automatically generated">
            <a:extLst>
              <a:ext uri="{FF2B5EF4-FFF2-40B4-BE49-F238E27FC236}">
                <a16:creationId xmlns:a16="http://schemas.microsoft.com/office/drawing/2014/main" id="{BCA32423-6727-71E4-4681-7BA6FFF63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592" y="569595"/>
            <a:ext cx="11139778" cy="3230534"/>
          </a:xfrm>
          <a:prstGeom prst="rect">
            <a:avLst/>
          </a:prstGeom>
        </p:spPr>
      </p:pic>
      <p:sp>
        <p:nvSpPr>
          <p:cNvPr id="13" name="Content Placeholder 12">
            <a:extLst>
              <a:ext uri="{FF2B5EF4-FFF2-40B4-BE49-F238E27FC236}">
                <a16:creationId xmlns:a16="http://schemas.microsoft.com/office/drawing/2014/main" id="{1F007B85-716A-53D9-C305-D2209912D52A}"/>
              </a:ext>
            </a:extLst>
          </p:cNvPr>
          <p:cNvSpPr>
            <a:spLocks noGrp="1"/>
          </p:cNvSpPr>
          <p:nvPr>
            <p:ph idx="1"/>
          </p:nvPr>
        </p:nvSpPr>
        <p:spPr>
          <a:xfrm>
            <a:off x="5246415" y="4230094"/>
            <a:ext cx="6235268" cy="1800164"/>
          </a:xfrm>
        </p:spPr>
        <p:txBody>
          <a:bodyPr anchor="t">
            <a:noAutofit/>
          </a:bodyPr>
          <a:lstStyle/>
          <a:p>
            <a:pPr marL="0" indent="0">
              <a:buNone/>
            </a:pPr>
            <a:r>
              <a:rPr lang="en-US" sz="1800" dirty="0">
                <a:latin typeface="Comic Sans MS" panose="030F0702030302020204" pitchFamily="66" charset="0"/>
              </a:rPr>
              <a:t>The following are the top ten hard hitters with the highest boundary percentages. From the chart, it is evident that the percentages are close. This makes it suitable for us to consider bidding for 2-3 players, depending on the funds available in our account. We could potentially bid for any of these great hard hitters.</a:t>
            </a:r>
          </a:p>
          <a:p>
            <a:pPr marL="0" indent="0">
              <a:buNone/>
            </a:pPr>
            <a:endParaRPr lang="en-US" sz="1800" dirty="0">
              <a:latin typeface="Comic Sans MS" panose="030F0702030302020204" pitchFamily="66" charset="0"/>
            </a:endParaRPr>
          </a:p>
        </p:txBody>
      </p:sp>
      <p:sp>
        <p:nvSpPr>
          <p:cNvPr id="18" name="Rectangle 17">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4770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42330-DC7D-5678-3522-D86E343D644A}"/>
              </a:ext>
            </a:extLst>
          </p:cNvPr>
          <p:cNvSpPr>
            <a:spLocks noGrp="1"/>
          </p:cNvSpPr>
          <p:nvPr>
            <p:ph type="title"/>
          </p:nvPr>
        </p:nvSpPr>
        <p:spPr/>
        <p:txBody>
          <a:bodyPr>
            <a:normAutofit fontScale="90000"/>
          </a:bodyPr>
          <a:lstStyle/>
          <a:p>
            <a:r>
              <a:rPr lang="en-US" sz="3600" dirty="0">
                <a:latin typeface="Georgia" panose="02040502050405020303" pitchFamily="18" charset="0"/>
              </a:rPr>
              <a:t>First priority is to get 2-3 bowlers with good economy who have bowled at least 500 balls in IPL .</a:t>
            </a:r>
          </a:p>
        </p:txBody>
      </p:sp>
      <p:sp>
        <p:nvSpPr>
          <p:cNvPr id="3" name="Content Placeholder 2">
            <a:extLst>
              <a:ext uri="{FF2B5EF4-FFF2-40B4-BE49-F238E27FC236}">
                <a16:creationId xmlns:a16="http://schemas.microsoft.com/office/drawing/2014/main" id="{15FB3229-AF2B-DE83-2C51-4A45A6182AF0}"/>
              </a:ext>
            </a:extLst>
          </p:cNvPr>
          <p:cNvSpPr>
            <a:spLocks noGrp="1"/>
          </p:cNvSpPr>
          <p:nvPr>
            <p:ph idx="1"/>
          </p:nvPr>
        </p:nvSpPr>
        <p:spPr/>
        <p:txBody>
          <a:bodyPr/>
          <a:lstStyle/>
          <a:p>
            <a:pPr marL="0" indent="0">
              <a:buNone/>
            </a:pPr>
            <a:r>
              <a:rPr lang="en-US" dirty="0">
                <a:latin typeface="Georgia" panose="02040502050405020303" pitchFamily="18" charset="0"/>
              </a:rPr>
              <a:t>To achieve this, I need to follow these steps to identify bowlers in the IPL with good economy rates who have bowled at least 500 balls:</a:t>
            </a:r>
          </a:p>
          <a:p>
            <a:pPr marL="514350" indent="-514350">
              <a:buAutoNum type="arabicPeriod"/>
            </a:pPr>
            <a:r>
              <a:rPr lang="en-US" dirty="0">
                <a:latin typeface="Georgia" panose="02040502050405020303" pitchFamily="18" charset="0"/>
              </a:rPr>
              <a:t>Determine the total number of balls bowled by each bowler.</a:t>
            </a:r>
          </a:p>
          <a:p>
            <a:pPr marL="514350" indent="-514350">
              <a:buAutoNum type="arabicPeriod"/>
            </a:pPr>
            <a:r>
              <a:rPr lang="en-US" dirty="0">
                <a:latin typeface="Georgia" panose="02040502050405020303" pitchFamily="18" charset="0"/>
              </a:rPr>
              <a:t>Calculate the total runs given up by each bowler.</a:t>
            </a:r>
          </a:p>
          <a:p>
            <a:pPr marL="514350" indent="-514350">
              <a:buAutoNum type="arabicPeriod"/>
            </a:pPr>
            <a:r>
              <a:rPr lang="en-US" dirty="0">
                <a:latin typeface="Georgia" panose="02040502050405020303" pitchFamily="18" charset="0"/>
              </a:rPr>
              <a:t>Compute the economy rate for each bowler. </a:t>
            </a:r>
          </a:p>
          <a:p>
            <a:pPr marL="514350" indent="-514350">
              <a:buAutoNum type="arabicPeriod"/>
            </a:pPr>
            <a:r>
              <a:rPr lang="en-US" dirty="0">
                <a:latin typeface="Georgia" panose="02040502050405020303" pitchFamily="18" charset="0"/>
              </a:rPr>
              <a:t>Exclude bowlers who have bowled fewer than 500 balls.</a:t>
            </a:r>
          </a:p>
          <a:p>
            <a:pPr marL="514350" indent="-514350">
              <a:buAutoNum type="arabicPeriod"/>
            </a:pPr>
            <a:r>
              <a:rPr lang="en-US" dirty="0">
                <a:latin typeface="Georgia" panose="02040502050405020303" pitchFamily="18" charset="0"/>
              </a:rPr>
              <a:t> Arrange the bowlers in order based on their economy rate.</a:t>
            </a:r>
          </a:p>
          <a:p>
            <a:pPr marL="514350" indent="-514350">
              <a:buAutoNum type="arabicPeriod"/>
            </a:pPr>
            <a:r>
              <a:rPr lang="en-US" dirty="0">
                <a:latin typeface="Georgia" panose="02040502050405020303" pitchFamily="18" charset="0"/>
              </a:rPr>
              <a:t> Choose the top 10 bowlers</a:t>
            </a:r>
          </a:p>
        </p:txBody>
      </p:sp>
    </p:spTree>
    <p:extLst>
      <p:ext uri="{BB962C8B-B14F-4D97-AF65-F5344CB8AC3E}">
        <p14:creationId xmlns:p14="http://schemas.microsoft.com/office/powerpoint/2010/main" val="428687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8E2F-5C3F-F304-D4E2-C9FE304B236D}"/>
              </a:ext>
            </a:extLst>
          </p:cNvPr>
          <p:cNvSpPr>
            <a:spLocks noGrp="1"/>
          </p:cNvSpPr>
          <p:nvPr>
            <p:ph type="title"/>
          </p:nvPr>
        </p:nvSpPr>
        <p:spPr/>
        <p:txBody>
          <a:bodyPr>
            <a:noAutofit/>
          </a:bodyPr>
          <a:lstStyle/>
          <a:p>
            <a:r>
              <a:rPr lang="en-US" sz="3600" dirty="0">
                <a:latin typeface="Georgia" panose="02040502050405020303" pitchFamily="18" charset="0"/>
              </a:rPr>
              <a:t>Code for First priority is to get 2-3 bowlers with good economy who have bowled at least 500 balls in IPL .</a:t>
            </a:r>
            <a:endParaRPr lang="en-US" sz="3600" dirty="0"/>
          </a:p>
        </p:txBody>
      </p:sp>
      <p:sp>
        <p:nvSpPr>
          <p:cNvPr id="3" name="Content Placeholder 2">
            <a:extLst>
              <a:ext uri="{FF2B5EF4-FFF2-40B4-BE49-F238E27FC236}">
                <a16:creationId xmlns:a16="http://schemas.microsoft.com/office/drawing/2014/main" id="{C5031E58-3A94-8BB9-794B-A5740F0F3EE2}"/>
              </a:ext>
            </a:extLst>
          </p:cNvPr>
          <p:cNvSpPr>
            <a:spLocks noGrp="1"/>
          </p:cNvSpPr>
          <p:nvPr>
            <p:ph idx="1"/>
          </p:nvPr>
        </p:nvSpPr>
        <p:spPr/>
        <p:txBody>
          <a:bodyPr>
            <a:normAutofit/>
          </a:bodyPr>
          <a:lstStyle/>
          <a:p>
            <a:pPr marL="0" indent="0">
              <a:buNone/>
            </a:pPr>
            <a:r>
              <a:rPr lang="en-US" dirty="0">
                <a:latin typeface="Georgia" panose="02040502050405020303" pitchFamily="18" charset="0"/>
              </a:rPr>
              <a:t>SELECT    </a:t>
            </a:r>
            <a:r>
              <a:rPr lang="en-US" dirty="0" err="1">
                <a:latin typeface="Georgia" panose="02040502050405020303" pitchFamily="18" charset="0"/>
              </a:rPr>
              <a:t>a.bowler</a:t>
            </a:r>
            <a:r>
              <a:rPr lang="en-US" dirty="0">
                <a:latin typeface="Georgia" panose="02040502050405020303" pitchFamily="18" charset="0"/>
              </a:rPr>
              <a:t>,    </a:t>
            </a:r>
            <a:r>
              <a:rPr lang="en-US" dirty="0" err="1">
                <a:latin typeface="Georgia" panose="02040502050405020303" pitchFamily="18" charset="0"/>
              </a:rPr>
              <a:t>a.legitimate_balls</a:t>
            </a:r>
            <a:r>
              <a:rPr lang="en-US" dirty="0">
                <a:latin typeface="Georgia" panose="02040502050405020303" pitchFamily="18" charset="0"/>
              </a:rPr>
              <a:t> AS </a:t>
            </a:r>
            <a:r>
              <a:rPr lang="en-US" dirty="0" err="1">
                <a:latin typeface="Georgia" panose="02040502050405020303" pitchFamily="18" charset="0"/>
              </a:rPr>
              <a:t>balls_bowled</a:t>
            </a:r>
            <a:r>
              <a:rPr lang="en-US" dirty="0">
                <a:latin typeface="Georgia" panose="02040502050405020303" pitchFamily="18" charset="0"/>
              </a:rPr>
              <a:t>,    </a:t>
            </a:r>
            <a:r>
              <a:rPr lang="en-US" dirty="0" err="1">
                <a:latin typeface="Georgia" panose="02040502050405020303" pitchFamily="18" charset="0"/>
              </a:rPr>
              <a:t>a.runs_conceded</a:t>
            </a:r>
            <a:r>
              <a:rPr lang="en-US" dirty="0">
                <a:latin typeface="Georgia" panose="02040502050405020303" pitchFamily="18" charset="0"/>
              </a:rPr>
              <a:t>,    (</a:t>
            </a:r>
            <a:r>
              <a:rPr lang="en-US" dirty="0" err="1">
                <a:latin typeface="Georgia" panose="02040502050405020303" pitchFamily="18" charset="0"/>
              </a:rPr>
              <a:t>a.runs_conceded</a:t>
            </a:r>
            <a:r>
              <a:rPr lang="en-US" dirty="0">
                <a:latin typeface="Georgia" panose="02040502050405020303" pitchFamily="18" charset="0"/>
              </a:rPr>
              <a:t> / (</a:t>
            </a:r>
            <a:r>
              <a:rPr lang="en-US" dirty="0" err="1">
                <a:latin typeface="Georgia" panose="02040502050405020303" pitchFamily="18" charset="0"/>
              </a:rPr>
              <a:t>a.legitimate_balls</a:t>
            </a:r>
            <a:r>
              <a:rPr lang="en-US" dirty="0">
                <a:latin typeface="Georgia" panose="02040502050405020303" pitchFamily="18" charset="0"/>
              </a:rPr>
              <a:t> / 6.0)) AS </a:t>
            </a:r>
            <a:r>
              <a:rPr lang="en-US" dirty="0" err="1">
                <a:latin typeface="Georgia" panose="02040502050405020303" pitchFamily="18" charset="0"/>
              </a:rPr>
              <a:t>economy_rateFROM</a:t>
            </a:r>
            <a:r>
              <a:rPr lang="en-US" dirty="0">
                <a:latin typeface="Georgia" panose="02040502050405020303" pitchFamily="18" charset="0"/>
              </a:rPr>
              <a:t> (    SELECT        bowler,        COUNT(*) AS </a:t>
            </a:r>
            <a:r>
              <a:rPr lang="en-US" dirty="0" err="1">
                <a:latin typeface="Georgia" panose="02040502050405020303" pitchFamily="18" charset="0"/>
              </a:rPr>
              <a:t>bowled_balls</a:t>
            </a:r>
            <a:r>
              <a:rPr lang="en-US" dirty="0">
                <a:latin typeface="Georgia" panose="02040502050405020303" pitchFamily="18" charset="0"/>
              </a:rPr>
              <a:t>,        SUM(CASE WHEN </a:t>
            </a:r>
            <a:r>
              <a:rPr lang="en-US" dirty="0" err="1">
                <a:latin typeface="Georgia" panose="02040502050405020303" pitchFamily="18" charset="0"/>
              </a:rPr>
              <a:t>extra_runs</a:t>
            </a:r>
            <a:r>
              <a:rPr lang="en-US" dirty="0">
                <a:latin typeface="Georgia" panose="02040502050405020303" pitchFamily="18" charset="0"/>
              </a:rPr>
              <a:t> &gt; 0 AND </a:t>
            </a:r>
            <a:r>
              <a:rPr lang="en-US" dirty="0" err="1">
                <a:latin typeface="Georgia" panose="02040502050405020303" pitchFamily="18" charset="0"/>
              </a:rPr>
              <a:t>extras_type</a:t>
            </a:r>
            <a:r>
              <a:rPr lang="en-US" dirty="0">
                <a:latin typeface="Georgia" panose="02040502050405020303" pitchFamily="18" charset="0"/>
              </a:rPr>
              <a:t> IN ('</a:t>
            </a:r>
            <a:r>
              <a:rPr lang="en-US" dirty="0" err="1">
                <a:latin typeface="Georgia" panose="02040502050405020303" pitchFamily="18" charset="0"/>
              </a:rPr>
              <a:t>no_ball</a:t>
            </a:r>
            <a:r>
              <a:rPr lang="en-US" dirty="0">
                <a:latin typeface="Georgia" panose="02040502050405020303" pitchFamily="18" charset="0"/>
              </a:rPr>
              <a:t>', 'wide') THEN 0 ELSE 1 END) AS </a:t>
            </a:r>
            <a:r>
              <a:rPr lang="en-US" dirty="0" err="1">
                <a:latin typeface="Georgia" panose="02040502050405020303" pitchFamily="18" charset="0"/>
              </a:rPr>
              <a:t>legitimate_balls</a:t>
            </a:r>
            <a:r>
              <a:rPr lang="en-US" dirty="0">
                <a:latin typeface="Georgia" panose="02040502050405020303" pitchFamily="18" charset="0"/>
              </a:rPr>
              <a:t>,        SUM(</a:t>
            </a:r>
            <a:r>
              <a:rPr lang="en-US" dirty="0" err="1">
                <a:latin typeface="Georgia" panose="02040502050405020303" pitchFamily="18" charset="0"/>
              </a:rPr>
              <a:t>total_runs</a:t>
            </a:r>
            <a:r>
              <a:rPr lang="en-US" dirty="0">
                <a:latin typeface="Georgia" panose="02040502050405020303" pitchFamily="18" charset="0"/>
              </a:rPr>
              <a:t>) AS </a:t>
            </a:r>
            <a:r>
              <a:rPr lang="en-US" dirty="0" err="1">
                <a:latin typeface="Georgia" panose="02040502050405020303" pitchFamily="18" charset="0"/>
              </a:rPr>
              <a:t>runs_conceded</a:t>
            </a:r>
            <a:r>
              <a:rPr lang="en-US" dirty="0">
                <a:latin typeface="Georgia" panose="02040502050405020303" pitchFamily="18" charset="0"/>
              </a:rPr>
              <a:t>    FROM        </a:t>
            </a:r>
            <a:r>
              <a:rPr lang="en-US" dirty="0" err="1">
                <a:latin typeface="Georgia" panose="02040502050405020303" pitchFamily="18" charset="0"/>
              </a:rPr>
              <a:t>ipl_ball</a:t>
            </a:r>
            <a:r>
              <a:rPr lang="en-US" dirty="0">
                <a:latin typeface="Georgia" panose="02040502050405020303" pitchFamily="18" charset="0"/>
              </a:rPr>
              <a:t>    GROUP BY        bowler) AS </a:t>
            </a:r>
            <a:r>
              <a:rPr lang="en-US" dirty="0" err="1">
                <a:latin typeface="Georgia" panose="02040502050405020303" pitchFamily="18" charset="0"/>
              </a:rPr>
              <a:t>aWHERE</a:t>
            </a:r>
            <a:r>
              <a:rPr lang="en-US" dirty="0">
                <a:latin typeface="Georgia" panose="02040502050405020303" pitchFamily="18" charset="0"/>
              </a:rPr>
              <a:t>    </a:t>
            </a:r>
            <a:r>
              <a:rPr lang="en-US" dirty="0" err="1">
                <a:latin typeface="Georgia" panose="02040502050405020303" pitchFamily="18" charset="0"/>
              </a:rPr>
              <a:t>a.legitimate_balls</a:t>
            </a:r>
            <a:r>
              <a:rPr lang="en-US" dirty="0">
                <a:latin typeface="Georgia" panose="02040502050405020303" pitchFamily="18" charset="0"/>
              </a:rPr>
              <a:t> &gt;= 500ORDER BY    </a:t>
            </a:r>
            <a:r>
              <a:rPr lang="en-US" dirty="0" err="1">
                <a:latin typeface="Georgia" panose="02040502050405020303" pitchFamily="18" charset="0"/>
              </a:rPr>
              <a:t>economy_rate</a:t>
            </a:r>
            <a:r>
              <a:rPr lang="en-US" dirty="0">
                <a:latin typeface="Georgia" panose="02040502050405020303" pitchFamily="18" charset="0"/>
              </a:rPr>
              <a:t> ASCLIMIT 10;</a:t>
            </a:r>
          </a:p>
        </p:txBody>
      </p:sp>
    </p:spTree>
    <p:extLst>
      <p:ext uri="{BB962C8B-B14F-4D97-AF65-F5344CB8AC3E}">
        <p14:creationId xmlns:p14="http://schemas.microsoft.com/office/powerpoint/2010/main" val="1592392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48492B-DBD1-F37F-9BDF-5B6DBE362C78}"/>
              </a:ext>
            </a:extLst>
          </p:cNvPr>
          <p:cNvSpPr>
            <a:spLocks noGrp="1"/>
          </p:cNvSpPr>
          <p:nvPr>
            <p:ph type="title"/>
          </p:nvPr>
        </p:nvSpPr>
        <p:spPr>
          <a:xfrm>
            <a:off x="818984" y="4230093"/>
            <a:ext cx="4150581" cy="1800165"/>
          </a:xfrm>
        </p:spPr>
        <p:txBody>
          <a:bodyPr anchor="t">
            <a:normAutofit/>
          </a:bodyPr>
          <a:lstStyle/>
          <a:p>
            <a:pPr algn="r"/>
            <a:r>
              <a:rPr lang="en-US" sz="4000" dirty="0"/>
              <a:t>Visualization: charts and table for bowlers</a:t>
            </a:r>
          </a:p>
        </p:txBody>
      </p:sp>
      <p:pic>
        <p:nvPicPr>
          <p:cNvPr id="15" name="Content Placeholder 14" descr="A screenshot of a graph&#10;&#10;Description automatically generated">
            <a:extLst>
              <a:ext uri="{FF2B5EF4-FFF2-40B4-BE49-F238E27FC236}">
                <a16:creationId xmlns:a16="http://schemas.microsoft.com/office/drawing/2014/main" id="{7D98B763-DF5B-8719-28C8-9099B5C8A2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592" y="653143"/>
            <a:ext cx="11139778" cy="3063438"/>
          </a:xfrm>
          <a:prstGeom prst="rect">
            <a:avLst/>
          </a:prstGeom>
        </p:spPr>
      </p:pic>
      <p:sp>
        <p:nvSpPr>
          <p:cNvPr id="19" name="Content Placeholder 18">
            <a:extLst>
              <a:ext uri="{FF2B5EF4-FFF2-40B4-BE49-F238E27FC236}">
                <a16:creationId xmlns:a16="http://schemas.microsoft.com/office/drawing/2014/main" id="{4C1C0629-9348-F309-BCBC-D761FECA56DB}"/>
              </a:ext>
            </a:extLst>
          </p:cNvPr>
          <p:cNvSpPr>
            <a:spLocks noGrp="1"/>
          </p:cNvSpPr>
          <p:nvPr>
            <p:ph idx="1"/>
          </p:nvPr>
        </p:nvSpPr>
        <p:spPr>
          <a:xfrm>
            <a:off x="5246415" y="4230094"/>
            <a:ext cx="6235268" cy="1800164"/>
          </a:xfrm>
        </p:spPr>
        <p:txBody>
          <a:bodyPr anchor="t">
            <a:normAutofit/>
          </a:bodyPr>
          <a:lstStyle/>
          <a:p>
            <a:pPr marL="0" indent="0">
              <a:buNone/>
            </a:pPr>
            <a:r>
              <a:rPr lang="en-US" sz="2000" dirty="0">
                <a:latin typeface="Comic Sans MS" panose="030F0702030302020204" pitchFamily="66" charset="0"/>
              </a:rPr>
              <a:t>The lower the economy rate, the better the bowlers. This chart and table show that the top 10 bowlers have a good economy rate and can be bid for in the auction among others. We can choose 2-3 from any of the 10 listed bowlers based on our finances and our budget.</a:t>
            </a:r>
          </a:p>
        </p:txBody>
      </p:sp>
      <p:sp>
        <p:nvSpPr>
          <p:cNvPr id="24" name="Rectangle 23">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3748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4D8FA-D8BB-4400-72C9-369C2BB82CE1}"/>
              </a:ext>
            </a:extLst>
          </p:cNvPr>
          <p:cNvSpPr>
            <a:spLocks noGrp="1"/>
          </p:cNvSpPr>
          <p:nvPr>
            <p:ph type="title"/>
          </p:nvPr>
        </p:nvSpPr>
        <p:spPr/>
        <p:txBody>
          <a:bodyPr>
            <a:noAutofit/>
          </a:bodyPr>
          <a:lstStyle/>
          <a:p>
            <a:r>
              <a:rPr lang="en-US" sz="3200" dirty="0">
                <a:latin typeface="Georgia" panose="02040502050405020303" pitchFamily="18" charset="0"/>
              </a:rPr>
              <a:t>The objective is to find 2-3 bowlers who have the best strike rate and have bowled at least 500 deliveries in the IPL. </a:t>
            </a:r>
          </a:p>
        </p:txBody>
      </p:sp>
      <p:sp>
        <p:nvSpPr>
          <p:cNvPr id="3" name="Content Placeholder 2">
            <a:extLst>
              <a:ext uri="{FF2B5EF4-FFF2-40B4-BE49-F238E27FC236}">
                <a16:creationId xmlns:a16="http://schemas.microsoft.com/office/drawing/2014/main" id="{DAA1EAF9-4B80-2EDD-FAEE-2584C90EEC65}"/>
              </a:ext>
            </a:extLst>
          </p:cNvPr>
          <p:cNvSpPr>
            <a:spLocks noGrp="1"/>
          </p:cNvSpPr>
          <p:nvPr>
            <p:ph idx="1"/>
          </p:nvPr>
        </p:nvSpPr>
        <p:spPr/>
        <p:txBody>
          <a:bodyPr>
            <a:normAutofit/>
          </a:bodyPr>
          <a:lstStyle/>
          <a:p>
            <a:pPr marL="0" indent="0">
              <a:buNone/>
            </a:pPr>
            <a:r>
              <a:rPr lang="en-US" sz="2400" dirty="0">
                <a:latin typeface="Georgia" panose="02040502050405020303" pitchFamily="18" charset="0"/>
              </a:rPr>
              <a:t>To find bowlers with the top strike rates who have bowled at least 500 deliveries in the IPL,</a:t>
            </a:r>
          </a:p>
          <a:p>
            <a:pPr marL="0" indent="0">
              <a:buNone/>
            </a:pPr>
            <a:r>
              <a:rPr lang="en-US" sz="2400" dirty="0">
                <a:latin typeface="Georgia" panose="02040502050405020303" pitchFamily="18" charset="0"/>
              </a:rPr>
              <a:t>Find out the total number of legitimate deliveries bowled by each bowler.</a:t>
            </a:r>
          </a:p>
          <a:p>
            <a:pPr marL="0" indent="0">
              <a:buNone/>
            </a:pPr>
            <a:r>
              <a:rPr lang="en-US" sz="2400" dirty="0">
                <a:latin typeface="Georgia" panose="02040502050405020303" pitchFamily="18" charset="0"/>
              </a:rPr>
              <a:t>Determine the total number of wickets taken by each bowler.</a:t>
            </a:r>
          </a:p>
          <a:p>
            <a:pPr marL="0" indent="0">
              <a:buNone/>
            </a:pPr>
            <a:r>
              <a:rPr lang="en-US" sz="2400" dirty="0">
                <a:latin typeface="Georgia" panose="02040502050405020303" pitchFamily="18" charset="0"/>
              </a:rPr>
              <a:t>Calculate the strike rate for each bowler (Strike rate = number of deliveries bowled / total wickets taken).</a:t>
            </a:r>
          </a:p>
          <a:p>
            <a:pPr marL="0" indent="0">
              <a:buNone/>
            </a:pPr>
            <a:r>
              <a:rPr lang="en-US" sz="2400" dirty="0">
                <a:latin typeface="Georgia" panose="02040502050405020303" pitchFamily="18" charset="0"/>
              </a:rPr>
              <a:t>Only consider bowlers who have bowled at least 500 deliveries.</a:t>
            </a:r>
          </a:p>
          <a:p>
            <a:pPr marL="0" indent="0">
              <a:buNone/>
            </a:pPr>
            <a:r>
              <a:rPr lang="en-US" sz="2400" dirty="0">
                <a:latin typeface="Georgia" panose="02040502050405020303" pitchFamily="18" charset="0"/>
              </a:rPr>
              <a:t>Rank the bowlers according to their strike rates.</a:t>
            </a:r>
          </a:p>
          <a:p>
            <a:pPr marL="0" indent="0">
              <a:buNone/>
            </a:pPr>
            <a:r>
              <a:rPr lang="en-US" sz="2400" dirty="0">
                <a:latin typeface="Georgia" panose="02040502050405020303" pitchFamily="18" charset="0"/>
              </a:rPr>
              <a:t>Choose the top 10 bowlers based on their strike rates.</a:t>
            </a:r>
          </a:p>
        </p:txBody>
      </p:sp>
    </p:spTree>
    <p:extLst>
      <p:ext uri="{BB962C8B-B14F-4D97-AF65-F5344CB8AC3E}">
        <p14:creationId xmlns:p14="http://schemas.microsoft.com/office/powerpoint/2010/main" val="11273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77F95-738A-A457-AA5E-D35F000B1654}"/>
              </a:ext>
            </a:extLst>
          </p:cNvPr>
          <p:cNvSpPr>
            <a:spLocks noGrp="1"/>
          </p:cNvSpPr>
          <p:nvPr>
            <p:ph type="title"/>
          </p:nvPr>
        </p:nvSpPr>
        <p:spPr/>
        <p:txBody>
          <a:bodyPr>
            <a:normAutofit fontScale="90000"/>
          </a:bodyPr>
          <a:lstStyle/>
          <a:p>
            <a:r>
              <a:rPr lang="en-US" sz="4400" dirty="0">
                <a:latin typeface="Georgia" panose="02040502050405020303" pitchFamily="18" charset="0"/>
              </a:rPr>
              <a:t>The code to find 2-3 bowlers who have the best strike rate and have bowled at least 500 deliveries in the IPL. </a:t>
            </a:r>
            <a:endParaRPr lang="en-US" dirty="0"/>
          </a:p>
        </p:txBody>
      </p:sp>
      <p:sp>
        <p:nvSpPr>
          <p:cNvPr id="3" name="Content Placeholder 2">
            <a:extLst>
              <a:ext uri="{FF2B5EF4-FFF2-40B4-BE49-F238E27FC236}">
                <a16:creationId xmlns:a16="http://schemas.microsoft.com/office/drawing/2014/main" id="{ADE82BD1-03F2-BC68-8C3F-64E8260CC8F2}"/>
              </a:ext>
            </a:extLst>
          </p:cNvPr>
          <p:cNvSpPr>
            <a:spLocks noGrp="1"/>
          </p:cNvSpPr>
          <p:nvPr>
            <p:ph idx="1"/>
          </p:nvPr>
        </p:nvSpPr>
        <p:spPr>
          <a:xfrm>
            <a:off x="838200" y="1825625"/>
            <a:ext cx="10515600" cy="4280207"/>
          </a:xfrm>
        </p:spPr>
        <p:txBody>
          <a:bodyPr/>
          <a:lstStyle/>
          <a:p>
            <a:pPr marL="0" indent="0">
              <a:buNone/>
            </a:pPr>
            <a:r>
              <a:rPr lang="en-US" dirty="0">
                <a:latin typeface="Georgia" panose="02040502050405020303" pitchFamily="18" charset="0"/>
              </a:rPr>
              <a:t>select * from </a:t>
            </a:r>
            <a:r>
              <a:rPr lang="en-US" dirty="0" err="1">
                <a:latin typeface="Georgia" panose="02040502050405020303" pitchFamily="18" charset="0"/>
              </a:rPr>
              <a:t>ipl_ball;Select</a:t>
            </a:r>
            <a:r>
              <a:rPr lang="en-US" dirty="0">
                <a:latin typeface="Georgia" panose="02040502050405020303" pitchFamily="18" charset="0"/>
              </a:rPr>
              <a:t>    bowler,    </a:t>
            </a:r>
            <a:r>
              <a:rPr lang="en-US" dirty="0" err="1">
                <a:latin typeface="Georgia" panose="02040502050405020303" pitchFamily="18" charset="0"/>
              </a:rPr>
              <a:t>legitimate_balls</a:t>
            </a:r>
            <a:r>
              <a:rPr lang="en-US" dirty="0">
                <a:latin typeface="Georgia" panose="02040502050405020303" pitchFamily="18" charset="0"/>
              </a:rPr>
              <a:t> as </a:t>
            </a:r>
            <a:r>
              <a:rPr lang="en-US" dirty="0" err="1">
                <a:latin typeface="Georgia" panose="02040502050405020303" pitchFamily="18" charset="0"/>
              </a:rPr>
              <a:t>balls_bowled</a:t>
            </a:r>
            <a:r>
              <a:rPr lang="en-US" dirty="0">
                <a:latin typeface="Georgia" panose="02040502050405020303" pitchFamily="18" charset="0"/>
              </a:rPr>
              <a:t>,    wickets,    (</a:t>
            </a:r>
            <a:r>
              <a:rPr lang="en-US" dirty="0" err="1">
                <a:latin typeface="Georgia" panose="02040502050405020303" pitchFamily="18" charset="0"/>
              </a:rPr>
              <a:t>legitimate_balls</a:t>
            </a:r>
            <a:r>
              <a:rPr lang="en-US" dirty="0">
                <a:latin typeface="Georgia" panose="02040502050405020303" pitchFamily="18" charset="0"/>
              </a:rPr>
              <a:t> * 1.0 / wickets) AS </a:t>
            </a:r>
            <a:r>
              <a:rPr lang="en-US" dirty="0" err="1">
                <a:latin typeface="Georgia" panose="02040502050405020303" pitchFamily="18" charset="0"/>
              </a:rPr>
              <a:t>strike_ratefrom</a:t>
            </a:r>
            <a:r>
              <a:rPr lang="en-US" dirty="0">
                <a:latin typeface="Georgia" panose="02040502050405020303" pitchFamily="18" charset="0"/>
              </a:rPr>
              <a:t> (    select        bowler,        sum(case when </a:t>
            </a:r>
            <a:r>
              <a:rPr lang="en-US" dirty="0" err="1">
                <a:latin typeface="Georgia" panose="02040502050405020303" pitchFamily="18" charset="0"/>
              </a:rPr>
              <a:t>extra_runs</a:t>
            </a:r>
            <a:r>
              <a:rPr lang="en-US" dirty="0">
                <a:latin typeface="Georgia" panose="02040502050405020303" pitchFamily="18" charset="0"/>
              </a:rPr>
              <a:t> &gt; 0 and </a:t>
            </a:r>
            <a:r>
              <a:rPr lang="en-US" dirty="0" err="1">
                <a:latin typeface="Georgia" panose="02040502050405020303" pitchFamily="18" charset="0"/>
              </a:rPr>
              <a:t>extras_type</a:t>
            </a:r>
            <a:r>
              <a:rPr lang="en-US" dirty="0">
                <a:latin typeface="Georgia" panose="02040502050405020303" pitchFamily="18" charset="0"/>
              </a:rPr>
              <a:t> in ('</a:t>
            </a:r>
            <a:r>
              <a:rPr lang="en-US" dirty="0" err="1">
                <a:latin typeface="Georgia" panose="02040502050405020303" pitchFamily="18" charset="0"/>
              </a:rPr>
              <a:t>no_ball</a:t>
            </a:r>
            <a:r>
              <a:rPr lang="en-US" dirty="0">
                <a:latin typeface="Georgia" panose="02040502050405020303" pitchFamily="18" charset="0"/>
              </a:rPr>
              <a:t>', 'wide') then 0 else 1 end) as </a:t>
            </a:r>
            <a:r>
              <a:rPr lang="en-US" dirty="0" err="1">
                <a:latin typeface="Georgia" panose="02040502050405020303" pitchFamily="18" charset="0"/>
              </a:rPr>
              <a:t>legitimate_balls</a:t>
            </a:r>
            <a:r>
              <a:rPr lang="en-US" dirty="0">
                <a:latin typeface="Georgia" panose="02040502050405020303" pitchFamily="18" charset="0"/>
              </a:rPr>
              <a:t>,        sum(case when </a:t>
            </a:r>
            <a:r>
              <a:rPr lang="en-US" dirty="0" err="1">
                <a:latin typeface="Georgia" panose="02040502050405020303" pitchFamily="18" charset="0"/>
              </a:rPr>
              <a:t>dismissal_kind</a:t>
            </a:r>
            <a:r>
              <a:rPr lang="en-US" dirty="0">
                <a:latin typeface="Georgia" panose="02040502050405020303" pitchFamily="18" charset="0"/>
              </a:rPr>
              <a:t> in ('bowled', 'caught', '</a:t>
            </a:r>
            <a:r>
              <a:rPr lang="en-US" dirty="0" err="1">
                <a:latin typeface="Georgia" panose="02040502050405020303" pitchFamily="18" charset="0"/>
              </a:rPr>
              <a:t>lbw</a:t>
            </a:r>
            <a:r>
              <a:rPr lang="en-US" dirty="0">
                <a:latin typeface="Georgia" panose="02040502050405020303" pitchFamily="18" charset="0"/>
              </a:rPr>
              <a:t>', 'stumped', 'caught and bowled', 'hit wicket') then 1 else 0 end) as </a:t>
            </a:r>
            <a:r>
              <a:rPr lang="en-US" dirty="0" err="1">
                <a:latin typeface="Georgia" panose="02040502050405020303" pitchFamily="18" charset="0"/>
              </a:rPr>
              <a:t>wicketsfrom</a:t>
            </a:r>
            <a:r>
              <a:rPr lang="en-US" dirty="0">
                <a:latin typeface="Georgia" panose="02040502050405020303" pitchFamily="18" charset="0"/>
              </a:rPr>
              <a:t> </a:t>
            </a:r>
            <a:r>
              <a:rPr lang="en-US" dirty="0" err="1">
                <a:latin typeface="Georgia" panose="02040502050405020303" pitchFamily="18" charset="0"/>
              </a:rPr>
              <a:t>ipl_ballGroup</a:t>
            </a:r>
            <a:r>
              <a:rPr lang="en-US" dirty="0">
                <a:latin typeface="Georgia" panose="02040502050405020303" pitchFamily="18" charset="0"/>
              </a:rPr>
              <a:t> by bowler) as </a:t>
            </a:r>
            <a:r>
              <a:rPr lang="en-US" dirty="0" err="1">
                <a:latin typeface="Georgia" panose="02040502050405020303" pitchFamily="18" charset="0"/>
              </a:rPr>
              <a:t>bowler_performance</a:t>
            </a:r>
            <a:r>
              <a:rPr lang="en-US" dirty="0">
                <a:latin typeface="Georgia" panose="02040502050405020303" pitchFamily="18" charset="0"/>
              </a:rPr>
              <a:t> where </a:t>
            </a:r>
            <a:r>
              <a:rPr lang="en-US" dirty="0" err="1">
                <a:latin typeface="Georgia" panose="02040502050405020303" pitchFamily="18" charset="0"/>
              </a:rPr>
              <a:t>legitimate_balls</a:t>
            </a:r>
            <a:r>
              <a:rPr lang="en-US" dirty="0">
                <a:latin typeface="Georgia" panose="02040502050405020303" pitchFamily="18" charset="0"/>
              </a:rPr>
              <a:t> &gt;= 500 order by </a:t>
            </a:r>
            <a:r>
              <a:rPr lang="en-US" dirty="0" err="1">
                <a:latin typeface="Georgia" panose="02040502050405020303" pitchFamily="18" charset="0"/>
              </a:rPr>
              <a:t>strike_rate</a:t>
            </a:r>
            <a:r>
              <a:rPr lang="en-US" dirty="0">
                <a:latin typeface="Georgia" panose="02040502050405020303" pitchFamily="18" charset="0"/>
              </a:rPr>
              <a:t> ASC LIMIT 10;</a:t>
            </a:r>
          </a:p>
        </p:txBody>
      </p:sp>
    </p:spTree>
    <p:extLst>
      <p:ext uri="{BB962C8B-B14F-4D97-AF65-F5344CB8AC3E}">
        <p14:creationId xmlns:p14="http://schemas.microsoft.com/office/powerpoint/2010/main" val="4146976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DB5A2E0-B405-140D-13AB-9710E7E8B2E8}"/>
              </a:ext>
            </a:extLst>
          </p:cNvPr>
          <p:cNvSpPr>
            <a:spLocks noGrp="1"/>
          </p:cNvSpPr>
          <p:nvPr>
            <p:ph type="title"/>
          </p:nvPr>
        </p:nvSpPr>
        <p:spPr>
          <a:xfrm>
            <a:off x="838201" y="3998018"/>
            <a:ext cx="3981854" cy="2216513"/>
          </a:xfrm>
        </p:spPr>
        <p:txBody>
          <a:bodyPr>
            <a:normAutofit/>
          </a:bodyPr>
          <a:lstStyle/>
          <a:p>
            <a:r>
              <a:rPr lang="en-US" sz="3700"/>
              <a:t>Visualization: charts and table for bowlers with best strike. </a:t>
            </a:r>
          </a:p>
        </p:txBody>
      </p:sp>
      <p:sp>
        <p:nvSpPr>
          <p:cNvPr id="14" name="Arc 13">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Content Placeholder 4" descr="A graph showing the number of people&#10;&#10;Description automatically generated with medium confidence">
            <a:extLst>
              <a:ext uri="{FF2B5EF4-FFF2-40B4-BE49-F238E27FC236}">
                <a16:creationId xmlns:a16="http://schemas.microsoft.com/office/drawing/2014/main" id="{B5634DAB-0F7F-5332-ACBF-679A9AFBCF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602" y="704504"/>
            <a:ext cx="9388796" cy="2957472"/>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9" name="Content Placeholder 8">
            <a:extLst>
              <a:ext uri="{FF2B5EF4-FFF2-40B4-BE49-F238E27FC236}">
                <a16:creationId xmlns:a16="http://schemas.microsoft.com/office/drawing/2014/main" id="{89534CEE-CCE4-5839-6D25-B603A7E67C3A}"/>
              </a:ext>
            </a:extLst>
          </p:cNvPr>
          <p:cNvSpPr>
            <a:spLocks noGrp="1"/>
          </p:cNvSpPr>
          <p:nvPr>
            <p:ph idx="1"/>
          </p:nvPr>
        </p:nvSpPr>
        <p:spPr>
          <a:xfrm>
            <a:off x="4970835" y="3998019"/>
            <a:ext cx="6382966" cy="2216512"/>
          </a:xfrm>
        </p:spPr>
        <p:txBody>
          <a:bodyPr>
            <a:normAutofit lnSpcReduction="10000"/>
          </a:bodyPr>
          <a:lstStyle/>
          <a:p>
            <a:pPr marL="0" indent="0">
              <a:buNone/>
            </a:pPr>
            <a:r>
              <a:rPr lang="en-US" dirty="0"/>
              <a:t>Similarly, the following bowlers have a good strike rate. The margin is not too large, and we can select 2-3 bowlers with a good strike rate from this top 10 list, considering our financial constraints.</a:t>
            </a:r>
          </a:p>
          <a:p>
            <a:pPr marL="0" indent="0">
              <a:buNone/>
            </a:pPr>
            <a:endParaRPr lang="en-US" dirty="0"/>
          </a:p>
        </p:txBody>
      </p:sp>
    </p:spTree>
    <p:extLst>
      <p:ext uri="{BB962C8B-B14F-4D97-AF65-F5344CB8AC3E}">
        <p14:creationId xmlns:p14="http://schemas.microsoft.com/office/powerpoint/2010/main" val="1474116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21CD8-49FD-3851-8BB2-EED12F430F81}"/>
              </a:ext>
            </a:extLst>
          </p:cNvPr>
          <p:cNvSpPr>
            <a:spLocks noGrp="1"/>
          </p:cNvSpPr>
          <p:nvPr>
            <p:ph type="title"/>
          </p:nvPr>
        </p:nvSpPr>
        <p:spPr/>
        <p:txBody>
          <a:bodyPr>
            <a:normAutofit/>
          </a:bodyPr>
          <a:lstStyle/>
          <a:p>
            <a:r>
              <a:rPr lang="en-US" sz="2400" dirty="0"/>
              <a:t>To get 2-3 </a:t>
            </a:r>
            <a:r>
              <a:rPr lang="en-US" sz="2400" dirty="0" err="1"/>
              <a:t>All_rounders</a:t>
            </a:r>
            <a:r>
              <a:rPr lang="en-US" sz="2400" dirty="0"/>
              <a:t> with the best batting as well as bowling strike rate and who have faced at least 500 balls in IPL so far and have bowled minimum 300 balls</a:t>
            </a:r>
          </a:p>
        </p:txBody>
      </p:sp>
      <p:sp>
        <p:nvSpPr>
          <p:cNvPr id="3" name="Content Placeholder 2">
            <a:extLst>
              <a:ext uri="{FF2B5EF4-FFF2-40B4-BE49-F238E27FC236}">
                <a16:creationId xmlns:a16="http://schemas.microsoft.com/office/drawing/2014/main" id="{5E44EF69-580A-4ECB-A2D4-A86FF5261BDA}"/>
              </a:ext>
            </a:extLst>
          </p:cNvPr>
          <p:cNvSpPr>
            <a:spLocks noGrp="1"/>
          </p:cNvSpPr>
          <p:nvPr>
            <p:ph idx="1"/>
          </p:nvPr>
        </p:nvSpPr>
        <p:spPr/>
        <p:txBody>
          <a:bodyPr>
            <a:normAutofit/>
          </a:bodyPr>
          <a:lstStyle/>
          <a:p>
            <a:pPr marL="0" indent="0">
              <a:buNone/>
            </a:pPr>
            <a:r>
              <a:rPr lang="en-US" sz="2400" dirty="0">
                <a:latin typeface="Georgia" panose="02040502050405020303" pitchFamily="18" charset="0"/>
              </a:rPr>
              <a:t>In order to identify the best all-rounders based on both batting and bowling strike rates among those who have batted at least 500 balls and bowled a minimum of 300 balls in the IPL, the following steps will be considered:</a:t>
            </a:r>
          </a:p>
          <a:p>
            <a:pPr marL="514350" indent="-514350">
              <a:buAutoNum type="arabicPeriod"/>
            </a:pPr>
            <a:r>
              <a:rPr lang="en-US" sz="2400" dirty="0">
                <a:latin typeface="Georgia" panose="02040502050405020303" pitchFamily="18" charset="0"/>
              </a:rPr>
              <a:t>Calculate the batting strike rate for players who have faced at least 500 balls.</a:t>
            </a:r>
          </a:p>
          <a:p>
            <a:pPr marL="514350" indent="-514350">
              <a:buAutoNum type="arabicPeriod"/>
            </a:pPr>
            <a:r>
              <a:rPr lang="en-US" sz="2400" dirty="0">
                <a:latin typeface="Georgia" panose="02040502050405020303" pitchFamily="18" charset="0"/>
              </a:rPr>
              <a:t>Compute the bowling strike rate for players who have bowled at least 300 balls.</a:t>
            </a:r>
          </a:p>
          <a:p>
            <a:pPr marL="514350" indent="-514350">
              <a:buAutoNum type="arabicPeriod"/>
            </a:pPr>
            <a:r>
              <a:rPr lang="en-US" sz="2400" dirty="0">
                <a:latin typeface="Georgia" panose="02040502050405020303" pitchFamily="18" charset="0"/>
              </a:rPr>
              <a:t>Merge the outcomes to identify all-rounders meeting both criteria.</a:t>
            </a:r>
          </a:p>
          <a:p>
            <a:pPr marL="514350" indent="-514350">
              <a:buAutoNum type="arabicPeriod"/>
            </a:pPr>
            <a:r>
              <a:rPr lang="en-US" sz="2400" dirty="0">
                <a:latin typeface="Georgia" panose="02040502050405020303" pitchFamily="18" charset="0"/>
              </a:rPr>
              <a:t>Choose the top 10 players based on their combined strike rates.</a:t>
            </a:r>
          </a:p>
        </p:txBody>
      </p:sp>
    </p:spTree>
    <p:extLst>
      <p:ext uri="{BB962C8B-B14F-4D97-AF65-F5344CB8AC3E}">
        <p14:creationId xmlns:p14="http://schemas.microsoft.com/office/powerpoint/2010/main" val="4054824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53BF6-B8B6-11C1-40C7-13F79A2E5CE6}"/>
              </a:ext>
            </a:extLst>
          </p:cNvPr>
          <p:cNvSpPr>
            <a:spLocks noGrp="1"/>
          </p:cNvSpPr>
          <p:nvPr>
            <p:ph type="title"/>
          </p:nvPr>
        </p:nvSpPr>
        <p:spPr/>
        <p:txBody>
          <a:bodyPr>
            <a:noAutofit/>
          </a:bodyPr>
          <a:lstStyle/>
          <a:p>
            <a:r>
              <a:rPr lang="en-US" sz="2800" dirty="0">
                <a:latin typeface="Georgia" panose="02040502050405020303" pitchFamily="18" charset="0"/>
              </a:rPr>
              <a:t>Code to get 2-3 </a:t>
            </a:r>
            <a:r>
              <a:rPr lang="en-US" sz="2800" dirty="0" err="1">
                <a:latin typeface="Georgia" panose="02040502050405020303" pitchFamily="18" charset="0"/>
              </a:rPr>
              <a:t>All_rounders</a:t>
            </a:r>
            <a:r>
              <a:rPr lang="en-US" sz="2800" dirty="0">
                <a:latin typeface="Georgia" panose="02040502050405020303" pitchFamily="18" charset="0"/>
              </a:rPr>
              <a:t> with the best batting as well as bowling strike rate and who have faced at least 500 balls in IPL so far and have bowled minimum 300 balls</a:t>
            </a:r>
          </a:p>
        </p:txBody>
      </p:sp>
      <p:sp>
        <p:nvSpPr>
          <p:cNvPr id="3" name="Content Placeholder 2">
            <a:extLst>
              <a:ext uri="{FF2B5EF4-FFF2-40B4-BE49-F238E27FC236}">
                <a16:creationId xmlns:a16="http://schemas.microsoft.com/office/drawing/2014/main" id="{8CD1EC77-AF0B-CC62-F220-28BFB3284AA9}"/>
              </a:ext>
            </a:extLst>
          </p:cNvPr>
          <p:cNvSpPr>
            <a:spLocks noGrp="1"/>
          </p:cNvSpPr>
          <p:nvPr>
            <p:ph idx="1"/>
          </p:nvPr>
        </p:nvSpPr>
        <p:spPr/>
        <p:txBody>
          <a:bodyPr>
            <a:normAutofit fontScale="92500" lnSpcReduction="10000"/>
          </a:bodyPr>
          <a:lstStyle/>
          <a:p>
            <a:pPr marL="0" indent="0">
              <a:buNone/>
            </a:pPr>
            <a:r>
              <a:rPr lang="en-US" dirty="0">
                <a:latin typeface="Georgia" panose="02040502050405020303" pitchFamily="18" charset="0"/>
              </a:rPr>
              <a:t>select    </a:t>
            </a:r>
            <a:r>
              <a:rPr lang="en-US" dirty="0" err="1">
                <a:latin typeface="Georgia" panose="02040502050405020303" pitchFamily="18" charset="0"/>
              </a:rPr>
              <a:t>a.batsman</a:t>
            </a:r>
            <a:r>
              <a:rPr lang="en-US" dirty="0">
                <a:latin typeface="Georgia" panose="02040502050405020303" pitchFamily="18" charset="0"/>
              </a:rPr>
              <a:t> as player,    </a:t>
            </a:r>
            <a:r>
              <a:rPr lang="en-US" dirty="0" err="1">
                <a:latin typeface="Georgia" panose="02040502050405020303" pitchFamily="18" charset="0"/>
              </a:rPr>
              <a:t>a.batting_strike_rate</a:t>
            </a:r>
            <a:r>
              <a:rPr lang="en-US" dirty="0">
                <a:latin typeface="Georgia" panose="02040502050405020303" pitchFamily="18" charset="0"/>
              </a:rPr>
              <a:t>,    </a:t>
            </a:r>
            <a:r>
              <a:rPr lang="en-US" dirty="0" err="1">
                <a:latin typeface="Georgia" panose="02040502050405020303" pitchFamily="18" charset="0"/>
              </a:rPr>
              <a:t>b.bowling_strike_ratefrom</a:t>
            </a:r>
            <a:r>
              <a:rPr lang="en-US" dirty="0">
                <a:latin typeface="Georgia" panose="02040502050405020303" pitchFamily="18" charset="0"/>
              </a:rPr>
              <a:t> (    select        batsman,        count(*) as </a:t>
            </a:r>
            <a:r>
              <a:rPr lang="en-US" dirty="0" err="1">
                <a:latin typeface="Georgia" panose="02040502050405020303" pitchFamily="18" charset="0"/>
              </a:rPr>
              <a:t>balls_faced</a:t>
            </a:r>
            <a:r>
              <a:rPr lang="en-US" dirty="0">
                <a:latin typeface="Georgia" panose="02040502050405020303" pitchFamily="18" charset="0"/>
              </a:rPr>
              <a:t>,        sum(</a:t>
            </a:r>
            <a:r>
              <a:rPr lang="en-US" dirty="0" err="1">
                <a:latin typeface="Georgia" panose="02040502050405020303" pitchFamily="18" charset="0"/>
              </a:rPr>
              <a:t>batsman_runs</a:t>
            </a:r>
            <a:r>
              <a:rPr lang="en-US" dirty="0">
                <a:latin typeface="Georgia" panose="02040502050405020303" pitchFamily="18" charset="0"/>
              </a:rPr>
              <a:t>) as </a:t>
            </a:r>
            <a:r>
              <a:rPr lang="en-US" dirty="0" err="1">
                <a:latin typeface="Georgia" panose="02040502050405020303" pitchFamily="18" charset="0"/>
              </a:rPr>
              <a:t>total_runs</a:t>
            </a:r>
            <a:r>
              <a:rPr lang="en-US" dirty="0">
                <a:latin typeface="Georgia" panose="02040502050405020303" pitchFamily="18" charset="0"/>
              </a:rPr>
              <a:t>,        (sum(</a:t>
            </a:r>
            <a:r>
              <a:rPr lang="en-US" dirty="0" err="1">
                <a:latin typeface="Georgia" panose="02040502050405020303" pitchFamily="18" charset="0"/>
              </a:rPr>
              <a:t>batsman_runs</a:t>
            </a:r>
            <a:r>
              <a:rPr lang="en-US" dirty="0">
                <a:latin typeface="Georgia" panose="02040502050405020303" pitchFamily="18" charset="0"/>
              </a:rPr>
              <a:t>) * 100.0 / count(*)) as </a:t>
            </a:r>
            <a:r>
              <a:rPr lang="en-US" dirty="0" err="1">
                <a:latin typeface="Georgia" panose="02040502050405020303" pitchFamily="18" charset="0"/>
              </a:rPr>
              <a:t>batting_strike_ratefrom</a:t>
            </a:r>
            <a:r>
              <a:rPr lang="en-US" dirty="0">
                <a:latin typeface="Georgia" panose="02040502050405020303" pitchFamily="18" charset="0"/>
              </a:rPr>
              <a:t> </a:t>
            </a:r>
            <a:r>
              <a:rPr lang="en-US" dirty="0" err="1">
                <a:latin typeface="Georgia" panose="02040502050405020303" pitchFamily="18" charset="0"/>
              </a:rPr>
              <a:t>ipl_ballGroup</a:t>
            </a:r>
            <a:r>
              <a:rPr lang="en-US" dirty="0">
                <a:latin typeface="Georgia" panose="02040502050405020303" pitchFamily="18" charset="0"/>
              </a:rPr>
              <a:t> by </a:t>
            </a:r>
            <a:r>
              <a:rPr lang="en-US" dirty="0" err="1">
                <a:latin typeface="Georgia" panose="02040502050405020303" pitchFamily="18" charset="0"/>
              </a:rPr>
              <a:t>batsmanHaving</a:t>
            </a:r>
            <a:r>
              <a:rPr lang="en-US" dirty="0">
                <a:latin typeface="Georgia" panose="02040502050405020303" pitchFamily="18" charset="0"/>
              </a:rPr>
              <a:t> count (*) &gt;= 500) as </a:t>
            </a:r>
            <a:r>
              <a:rPr lang="en-US" dirty="0" err="1">
                <a:latin typeface="Georgia" panose="02040502050405020303" pitchFamily="18" charset="0"/>
              </a:rPr>
              <a:t>ajoin</a:t>
            </a:r>
            <a:r>
              <a:rPr lang="en-US" dirty="0">
                <a:latin typeface="Georgia" panose="02040502050405020303" pitchFamily="18" charset="0"/>
              </a:rPr>
              <a:t> (    select        bowler,        count(*) as </a:t>
            </a:r>
            <a:r>
              <a:rPr lang="en-US" dirty="0" err="1">
                <a:latin typeface="Georgia" panose="02040502050405020303" pitchFamily="18" charset="0"/>
              </a:rPr>
              <a:t>balls_bowled</a:t>
            </a:r>
            <a:r>
              <a:rPr lang="en-US" dirty="0">
                <a:latin typeface="Georgia" panose="02040502050405020303" pitchFamily="18" charset="0"/>
              </a:rPr>
              <a:t>,        sum(case when </a:t>
            </a:r>
            <a:r>
              <a:rPr lang="en-US" dirty="0" err="1">
                <a:latin typeface="Georgia" panose="02040502050405020303" pitchFamily="18" charset="0"/>
              </a:rPr>
              <a:t>dismissal_kind</a:t>
            </a:r>
            <a:r>
              <a:rPr lang="en-US" dirty="0">
                <a:latin typeface="Georgia" panose="02040502050405020303" pitchFamily="18" charset="0"/>
              </a:rPr>
              <a:t> in ('bowled', 'caught', '</a:t>
            </a:r>
            <a:r>
              <a:rPr lang="en-US" dirty="0" err="1">
                <a:latin typeface="Georgia" panose="02040502050405020303" pitchFamily="18" charset="0"/>
              </a:rPr>
              <a:t>lbw</a:t>
            </a:r>
            <a:r>
              <a:rPr lang="en-US" dirty="0">
                <a:latin typeface="Georgia" panose="02040502050405020303" pitchFamily="18" charset="0"/>
              </a:rPr>
              <a:t>', 'stumped', 'caught and bowled', 'hit wicket') then 1 else 0 end) as wickets,        (count(*) * 1.0 / sum(case  when </a:t>
            </a:r>
            <a:r>
              <a:rPr lang="en-US" dirty="0" err="1">
                <a:latin typeface="Georgia" panose="02040502050405020303" pitchFamily="18" charset="0"/>
              </a:rPr>
              <a:t>dismissal_kind</a:t>
            </a:r>
            <a:r>
              <a:rPr lang="en-US" dirty="0">
                <a:latin typeface="Georgia" panose="02040502050405020303" pitchFamily="18" charset="0"/>
              </a:rPr>
              <a:t> in ('bowled', 'caught', '</a:t>
            </a:r>
            <a:r>
              <a:rPr lang="en-US" dirty="0" err="1">
                <a:latin typeface="Georgia" panose="02040502050405020303" pitchFamily="18" charset="0"/>
              </a:rPr>
              <a:t>lbw</a:t>
            </a:r>
            <a:r>
              <a:rPr lang="en-US" dirty="0">
                <a:latin typeface="Georgia" panose="02040502050405020303" pitchFamily="18" charset="0"/>
              </a:rPr>
              <a:t>', 'stumped', 'caught and bowled', 'hit wicket') then 1 else 0 end)) as </a:t>
            </a:r>
            <a:r>
              <a:rPr lang="en-US" dirty="0" err="1">
                <a:latin typeface="Georgia" panose="02040502050405020303" pitchFamily="18" charset="0"/>
              </a:rPr>
              <a:t>bowling_strike_rate</a:t>
            </a:r>
            <a:r>
              <a:rPr lang="en-US" dirty="0">
                <a:latin typeface="Georgia" panose="02040502050405020303" pitchFamily="18" charset="0"/>
              </a:rPr>
              <a:t> from </a:t>
            </a:r>
            <a:r>
              <a:rPr lang="en-US" dirty="0" err="1">
                <a:latin typeface="Georgia" panose="02040502050405020303" pitchFamily="18" charset="0"/>
              </a:rPr>
              <a:t>ipl_ball</a:t>
            </a:r>
            <a:r>
              <a:rPr lang="en-US" dirty="0">
                <a:latin typeface="Georgia" panose="02040502050405020303" pitchFamily="18" charset="0"/>
              </a:rPr>
              <a:t> Group by bowler Having count(*) &gt;= 300) as b on </a:t>
            </a:r>
            <a:r>
              <a:rPr lang="en-US" dirty="0" err="1">
                <a:latin typeface="Georgia" panose="02040502050405020303" pitchFamily="18" charset="0"/>
              </a:rPr>
              <a:t>a.batsman</a:t>
            </a:r>
            <a:r>
              <a:rPr lang="en-US" dirty="0">
                <a:latin typeface="Georgia" panose="02040502050405020303" pitchFamily="18" charset="0"/>
              </a:rPr>
              <a:t> = </a:t>
            </a:r>
            <a:r>
              <a:rPr lang="en-US" dirty="0" err="1">
                <a:latin typeface="Georgia" panose="02040502050405020303" pitchFamily="18" charset="0"/>
              </a:rPr>
              <a:t>b.bowlerorder</a:t>
            </a:r>
            <a:r>
              <a:rPr lang="en-US" dirty="0">
                <a:latin typeface="Georgia" panose="02040502050405020303" pitchFamily="18" charset="0"/>
              </a:rPr>
              <a:t> by </a:t>
            </a:r>
            <a:r>
              <a:rPr lang="en-US" dirty="0" err="1">
                <a:latin typeface="Georgia" panose="02040502050405020303" pitchFamily="18" charset="0"/>
              </a:rPr>
              <a:t>a.batting_strike_rate</a:t>
            </a:r>
            <a:r>
              <a:rPr lang="en-US" dirty="0">
                <a:latin typeface="Georgia" panose="02040502050405020303" pitchFamily="18" charset="0"/>
              </a:rPr>
              <a:t> DESC, </a:t>
            </a:r>
            <a:r>
              <a:rPr lang="en-US" dirty="0" err="1">
                <a:latin typeface="Georgia" panose="02040502050405020303" pitchFamily="18" charset="0"/>
              </a:rPr>
              <a:t>b.bowling_strike_rate</a:t>
            </a:r>
            <a:r>
              <a:rPr lang="en-US" dirty="0">
                <a:latin typeface="Georgia" panose="02040502050405020303" pitchFamily="18" charset="0"/>
              </a:rPr>
              <a:t> ASC LIMIT 10;</a:t>
            </a:r>
          </a:p>
        </p:txBody>
      </p:sp>
    </p:spTree>
    <p:extLst>
      <p:ext uri="{BB962C8B-B14F-4D97-AF65-F5344CB8AC3E}">
        <p14:creationId xmlns:p14="http://schemas.microsoft.com/office/powerpoint/2010/main" val="2214102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73383C-A095-ED39-E76A-5C3CCF8DB596}"/>
              </a:ext>
            </a:extLst>
          </p:cNvPr>
          <p:cNvSpPr>
            <a:spLocks noGrp="1"/>
          </p:cNvSpPr>
          <p:nvPr>
            <p:ph type="title"/>
          </p:nvPr>
        </p:nvSpPr>
        <p:spPr>
          <a:xfrm>
            <a:off x="818984" y="4230093"/>
            <a:ext cx="4150581" cy="1800165"/>
          </a:xfrm>
        </p:spPr>
        <p:txBody>
          <a:bodyPr anchor="t">
            <a:normAutofit/>
          </a:bodyPr>
          <a:lstStyle/>
          <a:p>
            <a:pPr algn="r"/>
            <a:r>
              <a:rPr lang="en-US" sz="4000"/>
              <a:t>Visualization: Table and charts for All_Rounders</a:t>
            </a:r>
          </a:p>
        </p:txBody>
      </p:sp>
      <p:pic>
        <p:nvPicPr>
          <p:cNvPr id="5" name="Content Placeholder 4" descr="A graph of a bar chart&#10;&#10;Description automatically generated with medium confidence">
            <a:extLst>
              <a:ext uri="{FF2B5EF4-FFF2-40B4-BE49-F238E27FC236}">
                <a16:creationId xmlns:a16="http://schemas.microsoft.com/office/drawing/2014/main" id="{19AD2093-E4AC-5666-0C8C-3A21CA836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592" y="499971"/>
            <a:ext cx="11139778" cy="3369783"/>
          </a:xfrm>
          <a:prstGeom prst="rect">
            <a:avLst/>
          </a:prstGeom>
        </p:spPr>
      </p:pic>
      <p:sp>
        <p:nvSpPr>
          <p:cNvPr id="9" name="Content Placeholder 8">
            <a:extLst>
              <a:ext uri="{FF2B5EF4-FFF2-40B4-BE49-F238E27FC236}">
                <a16:creationId xmlns:a16="http://schemas.microsoft.com/office/drawing/2014/main" id="{FE41671A-B150-EFE2-43C0-F11C4721A14B}"/>
              </a:ext>
            </a:extLst>
          </p:cNvPr>
          <p:cNvSpPr>
            <a:spLocks noGrp="1"/>
          </p:cNvSpPr>
          <p:nvPr>
            <p:ph idx="1"/>
          </p:nvPr>
        </p:nvSpPr>
        <p:spPr>
          <a:xfrm>
            <a:off x="5246415" y="4230094"/>
            <a:ext cx="6235268" cy="1800164"/>
          </a:xfrm>
        </p:spPr>
        <p:txBody>
          <a:bodyPr anchor="t">
            <a:normAutofit/>
          </a:bodyPr>
          <a:lstStyle/>
          <a:p>
            <a:pPr marL="0" indent="0">
              <a:buNone/>
            </a:pPr>
            <a:r>
              <a:rPr lang="en-US" sz="2000" dirty="0">
                <a:latin typeface="Comic Sans MS" panose="030F0702030302020204" pitchFamily="66" charset="0"/>
              </a:rPr>
              <a:t>Based on the table and chart, the all-round players have slightly varying rates, but it is important to consider these rates when selecting 2-3 players from the top 10 for an auction, taking into account financial constraints and available funds.</a:t>
            </a:r>
          </a:p>
        </p:txBody>
      </p:sp>
      <p:sp>
        <p:nvSpPr>
          <p:cNvPr id="51" name="Rectangle 5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5973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BE1F-1762-DCBC-C850-853FD8C082F7}"/>
              </a:ext>
            </a:extLst>
          </p:cNvPr>
          <p:cNvSpPr>
            <a:spLocks noGrp="1"/>
          </p:cNvSpPr>
          <p:nvPr>
            <p:ph type="title"/>
          </p:nvPr>
        </p:nvSpPr>
        <p:spPr/>
        <p:txBody>
          <a:bodyPr/>
          <a:lstStyle/>
          <a:p>
            <a:r>
              <a:rPr lang="en-US" dirty="0"/>
              <a:t>Wicketkeepers Criteria for the best two wicket keepers</a:t>
            </a:r>
          </a:p>
        </p:txBody>
      </p:sp>
      <p:sp>
        <p:nvSpPr>
          <p:cNvPr id="3" name="Content Placeholder 2">
            <a:extLst>
              <a:ext uri="{FF2B5EF4-FFF2-40B4-BE49-F238E27FC236}">
                <a16:creationId xmlns:a16="http://schemas.microsoft.com/office/drawing/2014/main" id="{8B802964-ED21-6AF8-EC54-454A8C4993C7}"/>
              </a:ext>
            </a:extLst>
          </p:cNvPr>
          <p:cNvSpPr>
            <a:spLocks noGrp="1"/>
          </p:cNvSpPr>
          <p:nvPr>
            <p:ph idx="1"/>
          </p:nvPr>
        </p:nvSpPr>
        <p:spPr/>
        <p:txBody>
          <a:bodyPr>
            <a:normAutofit fontScale="92500" lnSpcReduction="10000"/>
          </a:bodyPr>
          <a:lstStyle/>
          <a:p>
            <a:pPr marL="514350" indent="-514350">
              <a:buAutoNum type="arabicPeriod"/>
            </a:pPr>
            <a:r>
              <a:rPr lang="en-US" dirty="0">
                <a:latin typeface="Georgia" panose="02040502050405020303" pitchFamily="18" charset="0"/>
              </a:rPr>
              <a:t>Batting Strike Rate: This shows the speed at which the batsman scores runs, and it's especially important in T20 cricket.</a:t>
            </a:r>
          </a:p>
          <a:p>
            <a:pPr marL="514350" indent="-514350">
              <a:buAutoNum type="arabicPeriod"/>
            </a:pPr>
            <a:r>
              <a:rPr lang="en-US" dirty="0">
                <a:latin typeface="Georgia" panose="02040502050405020303" pitchFamily="18" charset="0"/>
              </a:rPr>
              <a:t>Batting Average: This indicates how consistent the batsman is in scoring runs.</a:t>
            </a:r>
          </a:p>
          <a:p>
            <a:pPr marL="514350" indent="-514350">
              <a:buAutoNum type="arabicPeriod"/>
            </a:pPr>
            <a:r>
              <a:rPr lang="en-US" dirty="0">
                <a:latin typeface="Georgia" panose="02040502050405020303" pitchFamily="18" charset="0"/>
              </a:rPr>
              <a:t>Runs Scored: The total runs scored can give insight into the player's experience and their ability to contribute to the team's overall score.</a:t>
            </a:r>
          </a:p>
          <a:p>
            <a:pPr marL="514350" indent="-514350">
              <a:buAutoNum type="arabicPeriod"/>
            </a:pPr>
            <a:r>
              <a:rPr lang="en-US" dirty="0">
                <a:latin typeface="Georgia" panose="02040502050405020303" pitchFamily="18" charset="0"/>
              </a:rPr>
              <a:t>Total dismissals (catches + stumpings) can reflect how well the wicketkeeper performs.</a:t>
            </a:r>
          </a:p>
          <a:p>
            <a:pPr marL="514350" indent="-514350">
              <a:buAutoNum type="arabicPeriod"/>
            </a:pPr>
            <a:r>
              <a:rPr lang="en-US" dirty="0">
                <a:latin typeface="Georgia" panose="02040502050405020303" pitchFamily="18" charset="0"/>
              </a:rPr>
              <a:t>Stumping rate is especially significant in T20 matches, as fast stumpings can have a significant impact on the game.</a:t>
            </a:r>
          </a:p>
        </p:txBody>
      </p:sp>
    </p:spTree>
    <p:extLst>
      <p:ext uri="{BB962C8B-B14F-4D97-AF65-F5344CB8AC3E}">
        <p14:creationId xmlns:p14="http://schemas.microsoft.com/office/powerpoint/2010/main" val="709196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63AB6-4C4E-47C9-219A-8ABE74574D0D}"/>
              </a:ext>
            </a:extLst>
          </p:cNvPr>
          <p:cNvSpPr>
            <a:spLocks noGrp="1"/>
          </p:cNvSpPr>
          <p:nvPr>
            <p:ph type="title"/>
          </p:nvPr>
        </p:nvSpPr>
        <p:spPr/>
        <p:txBody>
          <a:bodyPr/>
          <a:lstStyle/>
          <a:p>
            <a:r>
              <a:rPr lang="en-US" dirty="0"/>
              <a:t>Additional Questions for final assessment</a:t>
            </a:r>
          </a:p>
        </p:txBody>
      </p:sp>
      <p:sp>
        <p:nvSpPr>
          <p:cNvPr id="3" name="Content Placeholder 2">
            <a:extLst>
              <a:ext uri="{FF2B5EF4-FFF2-40B4-BE49-F238E27FC236}">
                <a16:creationId xmlns:a16="http://schemas.microsoft.com/office/drawing/2014/main" id="{DB37F686-34FE-8CE7-CA5F-BF68C150E884}"/>
              </a:ext>
            </a:extLst>
          </p:cNvPr>
          <p:cNvSpPr>
            <a:spLocks noGrp="1"/>
          </p:cNvSpPr>
          <p:nvPr>
            <p:ph idx="1"/>
          </p:nvPr>
        </p:nvSpPr>
        <p:spPr/>
        <p:txBody>
          <a:bodyPr/>
          <a:lstStyle/>
          <a:p>
            <a:pPr marL="0" indent="0">
              <a:buNone/>
            </a:pPr>
            <a:r>
              <a:rPr lang="en-US" dirty="0"/>
              <a:t>Deliveries table query</a:t>
            </a:r>
          </a:p>
          <a:p>
            <a:pPr marL="0" indent="0">
              <a:buNone/>
            </a:pPr>
            <a:r>
              <a:rPr lang="en-US" dirty="0"/>
              <a:t>CREATE TABLE deliveries (    id INT,    inning INT,    over INT,    ball INT,    batsman VARCHAR,    </a:t>
            </a:r>
            <a:r>
              <a:rPr lang="en-US" dirty="0" err="1"/>
              <a:t>non_striker</a:t>
            </a:r>
            <a:r>
              <a:rPr lang="en-US" dirty="0"/>
              <a:t> VARCHAR,    bowler VARCHAR,    </a:t>
            </a:r>
            <a:r>
              <a:rPr lang="en-US" dirty="0" err="1"/>
              <a:t>batsman_runs</a:t>
            </a:r>
            <a:r>
              <a:rPr lang="en-US" dirty="0"/>
              <a:t> INT,    </a:t>
            </a:r>
            <a:r>
              <a:rPr lang="en-US" dirty="0" err="1"/>
              <a:t>extra_runs</a:t>
            </a:r>
            <a:r>
              <a:rPr lang="en-US" dirty="0"/>
              <a:t> INT,    </a:t>
            </a:r>
            <a:r>
              <a:rPr lang="en-US" dirty="0" err="1"/>
              <a:t>total_runs</a:t>
            </a:r>
            <a:r>
              <a:rPr lang="en-US" dirty="0"/>
              <a:t> INT,    </a:t>
            </a:r>
            <a:r>
              <a:rPr lang="en-US" dirty="0" err="1"/>
              <a:t>is_wicket</a:t>
            </a:r>
            <a:r>
              <a:rPr lang="en-US" dirty="0"/>
              <a:t> BOOLEAN,    </a:t>
            </a:r>
            <a:r>
              <a:rPr lang="en-US" dirty="0" err="1"/>
              <a:t>dismissal_kind</a:t>
            </a:r>
            <a:r>
              <a:rPr lang="en-US" dirty="0"/>
              <a:t> VARCHAR,    </a:t>
            </a:r>
            <a:r>
              <a:rPr lang="en-US" dirty="0" err="1"/>
              <a:t>player_dismissed</a:t>
            </a:r>
            <a:r>
              <a:rPr lang="en-US" dirty="0"/>
              <a:t> VARCHAR,    fielder VARCHAR,    </a:t>
            </a:r>
            <a:r>
              <a:rPr lang="en-US" dirty="0" err="1"/>
              <a:t>extras_type</a:t>
            </a:r>
            <a:r>
              <a:rPr lang="en-US" dirty="0"/>
              <a:t> VARCHAR,    </a:t>
            </a:r>
            <a:r>
              <a:rPr lang="en-US" dirty="0" err="1"/>
              <a:t>batting_team</a:t>
            </a:r>
            <a:r>
              <a:rPr lang="en-US" dirty="0"/>
              <a:t> VARCHAR,    </a:t>
            </a:r>
            <a:r>
              <a:rPr lang="en-US" dirty="0" err="1"/>
              <a:t>bowling_team</a:t>
            </a:r>
            <a:r>
              <a:rPr lang="en-US" dirty="0"/>
              <a:t> VARCHAR);</a:t>
            </a:r>
          </a:p>
          <a:p>
            <a:pPr marL="0" indent="0">
              <a:buNone/>
            </a:pPr>
            <a:r>
              <a:rPr lang="en-US" dirty="0"/>
              <a:t>insert into deliveries</a:t>
            </a:r>
          </a:p>
          <a:p>
            <a:pPr marL="0" indent="0">
              <a:buNone/>
            </a:pPr>
            <a:r>
              <a:rPr lang="en-US" dirty="0"/>
              <a:t>select *from </a:t>
            </a:r>
            <a:r>
              <a:rPr lang="en-US" dirty="0" err="1"/>
              <a:t>ipl_ball</a:t>
            </a:r>
            <a:r>
              <a:rPr lang="en-US" dirty="0"/>
              <a:t>;</a:t>
            </a:r>
          </a:p>
          <a:p>
            <a:pPr marL="0" indent="0">
              <a:buNone/>
            </a:pPr>
            <a:endParaRPr lang="en-US" dirty="0"/>
          </a:p>
        </p:txBody>
      </p:sp>
    </p:spTree>
    <p:extLst>
      <p:ext uri="{BB962C8B-B14F-4D97-AF65-F5344CB8AC3E}">
        <p14:creationId xmlns:p14="http://schemas.microsoft.com/office/powerpoint/2010/main" val="492999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2C7A-012A-36B0-1930-9DE09F823B05}"/>
              </a:ext>
            </a:extLst>
          </p:cNvPr>
          <p:cNvSpPr>
            <a:spLocks noGrp="1"/>
          </p:cNvSpPr>
          <p:nvPr>
            <p:ph type="title"/>
          </p:nvPr>
        </p:nvSpPr>
        <p:spPr/>
        <p:txBody>
          <a:bodyPr/>
          <a:lstStyle/>
          <a:p>
            <a:r>
              <a:rPr lang="en-US" dirty="0"/>
              <a:t>Additional Questions for final assessment</a:t>
            </a:r>
          </a:p>
        </p:txBody>
      </p:sp>
      <p:sp>
        <p:nvSpPr>
          <p:cNvPr id="3" name="Content Placeholder 2">
            <a:extLst>
              <a:ext uri="{FF2B5EF4-FFF2-40B4-BE49-F238E27FC236}">
                <a16:creationId xmlns:a16="http://schemas.microsoft.com/office/drawing/2014/main" id="{6FFBA075-0992-F530-5C36-168F765ADA3F}"/>
              </a:ext>
            </a:extLst>
          </p:cNvPr>
          <p:cNvSpPr>
            <a:spLocks noGrp="1"/>
          </p:cNvSpPr>
          <p:nvPr>
            <p:ph idx="1"/>
          </p:nvPr>
        </p:nvSpPr>
        <p:spPr/>
        <p:txBody>
          <a:bodyPr/>
          <a:lstStyle/>
          <a:p>
            <a:pPr marL="514350" indent="-514350">
              <a:buAutoNum type="arabicPeriod"/>
            </a:pPr>
            <a:r>
              <a:rPr lang="en-US" dirty="0"/>
              <a:t>select count(distinct city) as </a:t>
            </a:r>
            <a:r>
              <a:rPr lang="en-US" dirty="0" err="1"/>
              <a:t>city_count</a:t>
            </a:r>
            <a:r>
              <a:rPr lang="en-US" dirty="0"/>
              <a:t> from ipl_matches1; </a:t>
            </a:r>
          </a:p>
          <a:p>
            <a:pPr marL="0" indent="0">
              <a:buNone/>
            </a:pPr>
            <a:endParaRPr lang="en-US" dirty="0"/>
          </a:p>
          <a:p>
            <a:pPr marL="0" indent="0">
              <a:buNone/>
            </a:pPr>
            <a:r>
              <a:rPr lang="en-US" dirty="0"/>
              <a:t>2. create table deliveries_v02 as select *, 	case 	when </a:t>
            </a:r>
            <a:r>
              <a:rPr lang="en-US" dirty="0" err="1"/>
              <a:t>total_runs</a:t>
            </a:r>
            <a:r>
              <a:rPr lang="en-US" dirty="0"/>
              <a:t> &gt;= 4 then 'boundary'	when </a:t>
            </a:r>
            <a:r>
              <a:rPr lang="en-US" dirty="0" err="1"/>
              <a:t>total_runs</a:t>
            </a:r>
            <a:r>
              <a:rPr lang="en-US" dirty="0"/>
              <a:t> = 0 then 'dot'	Else 'other'	end as </a:t>
            </a:r>
            <a:r>
              <a:rPr lang="en-US" dirty="0" err="1"/>
              <a:t>ball_result</a:t>
            </a:r>
            <a:r>
              <a:rPr lang="en-US" dirty="0"/>
              <a:t> from deliveries;</a:t>
            </a:r>
          </a:p>
          <a:p>
            <a:pPr marL="0" indent="0">
              <a:buNone/>
            </a:pPr>
            <a:endParaRPr lang="en-US" dirty="0"/>
          </a:p>
          <a:p>
            <a:pPr marL="0" indent="0">
              <a:buNone/>
            </a:pPr>
            <a:r>
              <a:rPr lang="en-US" dirty="0"/>
              <a:t>select * from deliveries_v02;</a:t>
            </a:r>
          </a:p>
          <a:p>
            <a:pPr marL="514350" indent="-514350">
              <a:buAutoNum type="arabicPeriod"/>
            </a:pPr>
            <a:endParaRPr lang="en-US" dirty="0"/>
          </a:p>
        </p:txBody>
      </p:sp>
      <p:pic>
        <p:nvPicPr>
          <p:cNvPr id="7" name="Picture 6">
            <a:extLst>
              <a:ext uri="{FF2B5EF4-FFF2-40B4-BE49-F238E27FC236}">
                <a16:creationId xmlns:a16="http://schemas.microsoft.com/office/drawing/2014/main" id="{272FC641-F282-6876-F83C-8F9BDE8D72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0786" y="2344044"/>
            <a:ext cx="1692130" cy="400106"/>
          </a:xfrm>
          <a:prstGeom prst="rect">
            <a:avLst/>
          </a:prstGeom>
        </p:spPr>
      </p:pic>
    </p:spTree>
    <p:extLst>
      <p:ext uri="{BB962C8B-B14F-4D97-AF65-F5344CB8AC3E}">
        <p14:creationId xmlns:p14="http://schemas.microsoft.com/office/powerpoint/2010/main" val="845752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8469B8-9D05-1EBE-5A47-4C1D3929E8C4}"/>
              </a:ext>
            </a:extLst>
          </p:cNvPr>
          <p:cNvSpPr>
            <a:spLocks noGrp="1"/>
          </p:cNvSpPr>
          <p:nvPr>
            <p:ph type="title"/>
          </p:nvPr>
        </p:nvSpPr>
        <p:spPr>
          <a:xfrm>
            <a:off x="838200" y="1641752"/>
            <a:ext cx="4391024" cy="1323439"/>
          </a:xfrm>
        </p:spPr>
        <p:txBody>
          <a:bodyPr anchor="t">
            <a:normAutofit/>
          </a:bodyPr>
          <a:lstStyle/>
          <a:p>
            <a:r>
              <a:rPr lang="en-US" sz="4000">
                <a:solidFill>
                  <a:schemeClr val="bg1"/>
                </a:solidFill>
              </a:rPr>
              <a:t>Question 3 </a:t>
            </a:r>
          </a:p>
        </p:txBody>
      </p:sp>
      <p:sp>
        <p:nvSpPr>
          <p:cNvPr id="3" name="Content Placeholder 2">
            <a:extLst>
              <a:ext uri="{FF2B5EF4-FFF2-40B4-BE49-F238E27FC236}">
                <a16:creationId xmlns:a16="http://schemas.microsoft.com/office/drawing/2014/main" id="{BE205480-1745-B2FC-B7CE-EFD8E9D955A9}"/>
              </a:ext>
            </a:extLst>
          </p:cNvPr>
          <p:cNvSpPr>
            <a:spLocks noGrp="1"/>
          </p:cNvSpPr>
          <p:nvPr>
            <p:ph idx="1"/>
          </p:nvPr>
        </p:nvSpPr>
        <p:spPr>
          <a:xfrm>
            <a:off x="838200" y="3146400"/>
            <a:ext cx="4391024" cy="2454300"/>
          </a:xfrm>
        </p:spPr>
        <p:txBody>
          <a:bodyPr>
            <a:normAutofit/>
          </a:bodyPr>
          <a:lstStyle/>
          <a:p>
            <a:pPr marL="0" indent="0">
              <a:buNone/>
            </a:pPr>
            <a:r>
              <a:rPr lang="en-US" sz="2400">
                <a:solidFill>
                  <a:schemeClr val="bg1">
                    <a:alpha val="80000"/>
                  </a:schemeClr>
                </a:solidFill>
              </a:rPr>
              <a:t>select ball_result,	count(*) as total_count from deliveries_v02where ball_result IN ('boundary', 'dot’) Group by ball_result;</a:t>
            </a:r>
          </a:p>
          <a:p>
            <a:pPr marL="0" indent="0">
              <a:buNone/>
            </a:pPr>
            <a:endParaRPr lang="en-US" sz="2400">
              <a:solidFill>
                <a:schemeClr val="bg1">
                  <a:alpha val="80000"/>
                </a:schemeClr>
              </a:solidFill>
            </a:endParaRPr>
          </a:p>
        </p:txBody>
      </p:sp>
      <p:pic>
        <p:nvPicPr>
          <p:cNvPr id="5" name="Picture 4" descr="A screenshot of a computer&#10;&#10;Description automatically generated">
            <a:extLst>
              <a:ext uri="{FF2B5EF4-FFF2-40B4-BE49-F238E27FC236}">
                <a16:creationId xmlns:a16="http://schemas.microsoft.com/office/drawing/2014/main" id="{8AE18F83-23E6-A5FD-BEC3-A843FF811B77}"/>
              </a:ext>
            </a:extLst>
          </p:cNvPr>
          <p:cNvPicPr>
            <a:picLocks noChangeAspect="1"/>
          </p:cNvPicPr>
          <p:nvPr/>
        </p:nvPicPr>
        <p:blipFill>
          <a:blip r:embed="rId2">
            <a:extLst>
              <a:ext uri="{28A0092B-C50C-407E-A947-70E740481C1C}">
                <a14:useLocalDpi xmlns:a14="http://schemas.microsoft.com/office/drawing/2010/main" val="0"/>
              </a:ext>
            </a:extLst>
          </a:blip>
          <a:srcRect r="1" b="5714"/>
          <a:stretch/>
        </p:blipFill>
        <p:spPr>
          <a:xfrm>
            <a:off x="6095999" y="2159772"/>
            <a:ext cx="5260976" cy="2499432"/>
          </a:xfrm>
          <a:prstGeom prst="rect">
            <a:avLst/>
          </a:prstGeom>
        </p:spPr>
      </p:pic>
    </p:spTree>
    <p:extLst>
      <p:ext uri="{BB962C8B-B14F-4D97-AF65-F5344CB8AC3E}">
        <p14:creationId xmlns:p14="http://schemas.microsoft.com/office/powerpoint/2010/main" val="1331776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A976E23-29EC-4E20-9EF6-B7CC4A821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F5FCEC6-E657-46F1-925F-13ED19212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E5BA8FCE-96F8-40B3-804C-10C27C02F4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73" name="Oval 72">
              <a:extLst>
                <a:ext uri="{FF2B5EF4-FFF2-40B4-BE49-F238E27FC236}">
                  <a16:creationId xmlns:a16="http://schemas.microsoft.com/office/drawing/2014/main" id="{F0593719-0C87-4B1E-B35D-0F97D2969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86F72299-2A02-44FA-A443-EFB406CF1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3B09EF30-0043-45B4-B715-398AB3B37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30227CAF-D3D1-454C-A6E3-466111AB0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90B68C07-78C0-4A8D-8839-959B33F07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6C367BC4-E8BC-458E-B0F6-2033296CF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5BA0739-5F11-DABD-FF1D-3D2F27D57D05}"/>
              </a:ext>
            </a:extLst>
          </p:cNvPr>
          <p:cNvSpPr>
            <a:spLocks noGrp="1"/>
          </p:cNvSpPr>
          <p:nvPr>
            <p:ph type="title"/>
          </p:nvPr>
        </p:nvSpPr>
        <p:spPr>
          <a:xfrm>
            <a:off x="630936" y="630936"/>
            <a:ext cx="5563079" cy="2632080"/>
          </a:xfrm>
          <a:noFill/>
        </p:spPr>
        <p:txBody>
          <a:bodyPr anchor="t">
            <a:normAutofit/>
          </a:bodyPr>
          <a:lstStyle/>
          <a:p>
            <a:r>
              <a:rPr lang="en-US" sz="4800">
                <a:solidFill>
                  <a:schemeClr val="bg1"/>
                </a:solidFill>
              </a:rPr>
              <a:t>Question 4</a:t>
            </a:r>
          </a:p>
        </p:txBody>
      </p:sp>
      <p:sp>
        <p:nvSpPr>
          <p:cNvPr id="66" name="Rectangle 65">
            <a:extLst>
              <a:ext uri="{FF2B5EF4-FFF2-40B4-BE49-F238E27FC236}">
                <a16:creationId xmlns:a16="http://schemas.microsoft.com/office/drawing/2014/main" id="{FF0BDB76-BCEC-498E-BA26-C763CD9FA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a:extLst>
              <a:ext uri="{FF2B5EF4-FFF2-40B4-BE49-F238E27FC236}">
                <a16:creationId xmlns:a16="http://schemas.microsoft.com/office/drawing/2014/main" id="{DD8DF5DF-A251-4BC2-8965-4EDDD01FC5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69" name="Straight Connector 68">
              <a:extLst>
                <a:ext uri="{FF2B5EF4-FFF2-40B4-BE49-F238E27FC236}">
                  <a16:creationId xmlns:a16="http://schemas.microsoft.com/office/drawing/2014/main" id="{8930D52D-708D-43A1-B073-469EFDB020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82491CB-6849-43BB-926B-D979A3DB09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1251642-9512-4A11-9670-BD1C3A9981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3D277633-FF55-420D-87BC-0CB11FD6D0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74" name="Rectangle 73">
            <a:extLst>
              <a:ext uri="{FF2B5EF4-FFF2-40B4-BE49-F238E27FC236}">
                <a16:creationId xmlns:a16="http://schemas.microsoft.com/office/drawing/2014/main" id="{1452CEF2-C9EC-4C15-99E4-C781AB08A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600459E6-26A3-4EAC-A34C-D0792D88CC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77" name="Straight Connector 76">
              <a:extLst>
                <a:ext uri="{FF2B5EF4-FFF2-40B4-BE49-F238E27FC236}">
                  <a16:creationId xmlns:a16="http://schemas.microsoft.com/office/drawing/2014/main" id="{1264D5E9-C8D4-444A-8B1B-C11FB47CBA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DD99233-66AB-4E60-AF8A-A3259E6A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4E8492A-EE2A-4BE3-A4B2-2BCE77DA40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222A220-AA24-4E60-83D6-D32FEB34D8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2D363FD3-2BA4-6434-03AA-3EE30F916D1A}"/>
              </a:ext>
            </a:extLst>
          </p:cNvPr>
          <p:cNvSpPr>
            <a:spLocks noGrp="1"/>
          </p:cNvSpPr>
          <p:nvPr>
            <p:ph idx="1"/>
          </p:nvPr>
        </p:nvSpPr>
        <p:spPr>
          <a:xfrm>
            <a:off x="630936" y="3429000"/>
            <a:ext cx="5563083" cy="2828892"/>
          </a:xfrm>
          <a:noFill/>
        </p:spPr>
        <p:txBody>
          <a:bodyPr anchor="t">
            <a:normAutofit/>
          </a:bodyPr>
          <a:lstStyle/>
          <a:p>
            <a:pPr marL="0" indent="0">
              <a:buNone/>
            </a:pPr>
            <a:r>
              <a:rPr lang="en-US" sz="1800" dirty="0">
                <a:solidFill>
                  <a:schemeClr val="bg1"/>
                </a:solidFill>
              </a:rPr>
              <a:t>select </a:t>
            </a:r>
            <a:r>
              <a:rPr lang="en-US" sz="1800" dirty="0" err="1">
                <a:solidFill>
                  <a:schemeClr val="bg1"/>
                </a:solidFill>
              </a:rPr>
              <a:t>batting_team</a:t>
            </a:r>
            <a:r>
              <a:rPr lang="en-US" sz="1800" dirty="0">
                <a:solidFill>
                  <a:schemeClr val="bg1"/>
                </a:solidFill>
              </a:rPr>
              <a:t>, count(*) as  </a:t>
            </a:r>
            <a:r>
              <a:rPr lang="en-US" sz="1800" dirty="0" err="1">
                <a:solidFill>
                  <a:schemeClr val="bg1"/>
                </a:solidFill>
              </a:rPr>
              <a:t>total_of_boundariesfrom</a:t>
            </a:r>
            <a:r>
              <a:rPr lang="en-US" sz="1800" dirty="0">
                <a:solidFill>
                  <a:schemeClr val="bg1"/>
                </a:solidFill>
              </a:rPr>
              <a:t> deliveries_v02where </a:t>
            </a:r>
            <a:r>
              <a:rPr lang="en-US" sz="1800" dirty="0" err="1">
                <a:solidFill>
                  <a:schemeClr val="bg1"/>
                </a:solidFill>
              </a:rPr>
              <a:t>ball_result</a:t>
            </a:r>
            <a:r>
              <a:rPr lang="en-US" sz="1800" dirty="0">
                <a:solidFill>
                  <a:schemeClr val="bg1"/>
                </a:solidFill>
              </a:rPr>
              <a:t> = '</a:t>
            </a:r>
            <a:r>
              <a:rPr lang="en-US" sz="1800" dirty="0" err="1">
                <a:solidFill>
                  <a:schemeClr val="bg1"/>
                </a:solidFill>
              </a:rPr>
              <a:t>boundary'Group</a:t>
            </a:r>
            <a:r>
              <a:rPr lang="en-US" sz="1800" dirty="0">
                <a:solidFill>
                  <a:schemeClr val="bg1"/>
                </a:solidFill>
              </a:rPr>
              <a:t> by  </a:t>
            </a:r>
            <a:r>
              <a:rPr lang="en-US" sz="1800" dirty="0" err="1">
                <a:solidFill>
                  <a:schemeClr val="bg1"/>
                </a:solidFill>
              </a:rPr>
              <a:t>batting_team</a:t>
            </a:r>
            <a:r>
              <a:rPr lang="en-US" sz="1800" dirty="0">
                <a:solidFill>
                  <a:schemeClr val="bg1"/>
                </a:solidFill>
              </a:rPr>
              <a:t> order by </a:t>
            </a:r>
            <a:r>
              <a:rPr lang="en-US" sz="1800" dirty="0" err="1">
                <a:solidFill>
                  <a:schemeClr val="bg1"/>
                </a:solidFill>
              </a:rPr>
              <a:t>total_of_boundaries</a:t>
            </a:r>
            <a:r>
              <a:rPr lang="en-US" sz="1800" dirty="0">
                <a:solidFill>
                  <a:schemeClr val="bg1"/>
                </a:solidFill>
              </a:rPr>
              <a:t> desc;</a:t>
            </a:r>
          </a:p>
          <a:p>
            <a:pPr marL="0" indent="0">
              <a:buNone/>
            </a:pPr>
            <a:endParaRPr lang="en-US" sz="1800" dirty="0">
              <a:solidFill>
                <a:schemeClr val="bg1"/>
              </a:solidFill>
            </a:endParaRPr>
          </a:p>
          <a:p>
            <a:pPr marL="0" indent="0">
              <a:buNone/>
            </a:pPr>
            <a:endParaRPr lang="en-US" sz="1800" dirty="0">
              <a:solidFill>
                <a:schemeClr val="bg1"/>
              </a:solidFill>
            </a:endParaRPr>
          </a:p>
        </p:txBody>
      </p:sp>
      <p:pic>
        <p:nvPicPr>
          <p:cNvPr id="5" name="Picture 4" descr="A screenshot of a sports report&#10;&#10;Description automatically generated">
            <a:extLst>
              <a:ext uri="{FF2B5EF4-FFF2-40B4-BE49-F238E27FC236}">
                <a16:creationId xmlns:a16="http://schemas.microsoft.com/office/drawing/2014/main" id="{2E6DC97B-3345-7DAD-07FF-D9F7BAD2E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138" y="692052"/>
            <a:ext cx="4099936" cy="5504695"/>
          </a:xfrm>
          <a:prstGeom prst="rect">
            <a:avLst/>
          </a:prstGeom>
        </p:spPr>
      </p:pic>
      <p:grpSp>
        <p:nvGrpSpPr>
          <p:cNvPr id="82" name="Group 81">
            <a:extLst>
              <a:ext uri="{FF2B5EF4-FFF2-40B4-BE49-F238E27FC236}">
                <a16:creationId xmlns:a16="http://schemas.microsoft.com/office/drawing/2014/main" id="{94F13521-5DF8-4DF5-A0B9-A718234B3A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7120609" y="797789"/>
            <a:ext cx="304800" cy="429768"/>
            <a:chOff x="215328" y="-46937"/>
            <a:chExt cx="304800" cy="2773841"/>
          </a:xfrm>
        </p:grpSpPr>
        <p:cxnSp>
          <p:nvCxnSpPr>
            <p:cNvPr id="83" name="Straight Connector 82">
              <a:extLst>
                <a:ext uri="{FF2B5EF4-FFF2-40B4-BE49-F238E27FC236}">
                  <a16:creationId xmlns:a16="http://schemas.microsoft.com/office/drawing/2014/main" id="{046D4DF8-1672-4FA2-9826-FE37087C6A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B7A5B2F-EC14-4482-85C2-E1320F14D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6FC815-E502-44E9-B346-1E771A5E2E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1DCBABB-A77B-43CF-94EF-B785F32C4F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9488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A976E23-29EC-4E20-9EF6-B7CC4A821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F5FCEC6-E657-46F1-925F-13ED19212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5BA8FCE-96F8-40B3-804C-10C27C02F4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F0593719-0C87-4B1E-B35D-0F97D2969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6F72299-2A02-44FA-A443-EFB406CF1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B09EF30-0043-45B4-B715-398AB3B37D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0227CAF-D3D1-454C-A6E3-466111AB0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90B68C07-78C0-4A8D-8839-959B33F07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C367BC4-E8BC-458E-B0F6-2033296CF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6813A63-EA89-0D77-EA0C-82E72AD87DC8}"/>
              </a:ext>
            </a:extLst>
          </p:cNvPr>
          <p:cNvSpPr>
            <a:spLocks noGrp="1"/>
          </p:cNvSpPr>
          <p:nvPr>
            <p:ph type="title"/>
          </p:nvPr>
        </p:nvSpPr>
        <p:spPr>
          <a:xfrm>
            <a:off x="630936" y="630936"/>
            <a:ext cx="5563079" cy="2632080"/>
          </a:xfrm>
          <a:noFill/>
        </p:spPr>
        <p:txBody>
          <a:bodyPr anchor="t">
            <a:normAutofit/>
          </a:bodyPr>
          <a:lstStyle/>
          <a:p>
            <a:r>
              <a:rPr lang="en-US" sz="4800">
                <a:solidFill>
                  <a:schemeClr val="bg1"/>
                </a:solidFill>
              </a:rPr>
              <a:t>Question 5 </a:t>
            </a:r>
          </a:p>
        </p:txBody>
      </p:sp>
      <p:sp>
        <p:nvSpPr>
          <p:cNvPr id="22" name="Rectangle 21">
            <a:extLst>
              <a:ext uri="{FF2B5EF4-FFF2-40B4-BE49-F238E27FC236}">
                <a16:creationId xmlns:a16="http://schemas.microsoft.com/office/drawing/2014/main" id="{FF0BDB76-BCEC-498E-BA26-C763CD9FA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D8DF5DF-A251-4BC2-8965-4EDDD01FC5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5" name="Straight Connector 24">
              <a:extLst>
                <a:ext uri="{FF2B5EF4-FFF2-40B4-BE49-F238E27FC236}">
                  <a16:creationId xmlns:a16="http://schemas.microsoft.com/office/drawing/2014/main" id="{8930D52D-708D-43A1-B073-469EFDB020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82491CB-6849-43BB-926B-D979A3DB09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1251642-9512-4A11-9670-BD1C3A9981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277633-FF55-420D-87BC-0CB11FD6D0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1452CEF2-C9EC-4C15-99E4-C781AB08A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600459E6-26A3-4EAC-A34C-D0792D88CC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3" name="Straight Connector 32">
              <a:extLst>
                <a:ext uri="{FF2B5EF4-FFF2-40B4-BE49-F238E27FC236}">
                  <a16:creationId xmlns:a16="http://schemas.microsoft.com/office/drawing/2014/main" id="{1264D5E9-C8D4-444A-8B1B-C11FB47CBA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DD99233-66AB-4E60-AF8A-A3259E6A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4E8492A-EE2A-4BE3-A4B2-2BCE77DA40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222A220-AA24-4E60-83D6-D32FEB34D8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604CD707-9354-D600-2E9F-37CCB22C72F0}"/>
              </a:ext>
            </a:extLst>
          </p:cNvPr>
          <p:cNvSpPr>
            <a:spLocks noGrp="1"/>
          </p:cNvSpPr>
          <p:nvPr>
            <p:ph idx="1"/>
          </p:nvPr>
        </p:nvSpPr>
        <p:spPr>
          <a:xfrm>
            <a:off x="630936" y="3429000"/>
            <a:ext cx="5563083" cy="2828892"/>
          </a:xfrm>
          <a:noFill/>
        </p:spPr>
        <p:txBody>
          <a:bodyPr anchor="t">
            <a:normAutofit/>
          </a:bodyPr>
          <a:lstStyle/>
          <a:p>
            <a:pPr marL="0" indent="0">
              <a:buNone/>
            </a:pPr>
            <a:r>
              <a:rPr lang="en-US" sz="1800" dirty="0">
                <a:solidFill>
                  <a:schemeClr val="bg1"/>
                </a:solidFill>
              </a:rPr>
              <a:t>select </a:t>
            </a:r>
            <a:r>
              <a:rPr lang="en-US" sz="1800" dirty="0" err="1">
                <a:solidFill>
                  <a:schemeClr val="bg1"/>
                </a:solidFill>
              </a:rPr>
              <a:t>bowling_team</a:t>
            </a:r>
            <a:r>
              <a:rPr lang="en-US" sz="1800" dirty="0">
                <a:solidFill>
                  <a:schemeClr val="bg1"/>
                </a:solidFill>
              </a:rPr>
              <a:t>, count(*) as </a:t>
            </a:r>
            <a:r>
              <a:rPr lang="en-US" sz="1800" dirty="0" err="1">
                <a:solidFill>
                  <a:schemeClr val="bg1"/>
                </a:solidFill>
              </a:rPr>
              <a:t>total_dotted_ballsfrom</a:t>
            </a:r>
            <a:r>
              <a:rPr lang="en-US" sz="1800" dirty="0">
                <a:solidFill>
                  <a:schemeClr val="bg1"/>
                </a:solidFill>
              </a:rPr>
              <a:t> deliveries_v02where </a:t>
            </a:r>
            <a:r>
              <a:rPr lang="en-US" sz="1800" dirty="0" err="1">
                <a:solidFill>
                  <a:schemeClr val="bg1"/>
                </a:solidFill>
              </a:rPr>
              <a:t>ball_result</a:t>
            </a:r>
            <a:r>
              <a:rPr lang="en-US" sz="1800" dirty="0">
                <a:solidFill>
                  <a:schemeClr val="bg1"/>
                </a:solidFill>
              </a:rPr>
              <a:t> = 'dot’ Group by </a:t>
            </a:r>
            <a:r>
              <a:rPr lang="en-US" sz="1800" dirty="0" err="1">
                <a:solidFill>
                  <a:schemeClr val="bg1"/>
                </a:solidFill>
              </a:rPr>
              <a:t>bowling_team</a:t>
            </a:r>
            <a:r>
              <a:rPr lang="en-US" sz="1800" dirty="0">
                <a:solidFill>
                  <a:schemeClr val="bg1"/>
                </a:solidFill>
              </a:rPr>
              <a:t> order by </a:t>
            </a:r>
            <a:r>
              <a:rPr lang="en-US" sz="1800" dirty="0" err="1">
                <a:solidFill>
                  <a:schemeClr val="bg1"/>
                </a:solidFill>
              </a:rPr>
              <a:t>total_dotted_balls</a:t>
            </a:r>
            <a:r>
              <a:rPr lang="en-US" sz="1800" dirty="0">
                <a:solidFill>
                  <a:schemeClr val="bg1"/>
                </a:solidFill>
              </a:rPr>
              <a:t> Desc;</a:t>
            </a:r>
          </a:p>
        </p:txBody>
      </p:sp>
      <p:pic>
        <p:nvPicPr>
          <p:cNvPr id="5" name="Picture 4" descr="A screenshot of a computer&#10;&#10;Description automatically generated">
            <a:extLst>
              <a:ext uri="{FF2B5EF4-FFF2-40B4-BE49-F238E27FC236}">
                <a16:creationId xmlns:a16="http://schemas.microsoft.com/office/drawing/2014/main" id="{86B139FA-4F7A-EEDB-FCDB-15F042985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8233" y="692052"/>
            <a:ext cx="3809746" cy="5504695"/>
          </a:xfrm>
          <a:prstGeom prst="rect">
            <a:avLst/>
          </a:prstGeom>
        </p:spPr>
      </p:pic>
      <p:grpSp>
        <p:nvGrpSpPr>
          <p:cNvPr id="38" name="Group 37">
            <a:extLst>
              <a:ext uri="{FF2B5EF4-FFF2-40B4-BE49-F238E27FC236}">
                <a16:creationId xmlns:a16="http://schemas.microsoft.com/office/drawing/2014/main" id="{94F13521-5DF8-4DF5-A0B9-A718234B3A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7120609" y="797789"/>
            <a:ext cx="304800" cy="429768"/>
            <a:chOff x="215328" y="-46937"/>
            <a:chExt cx="304800" cy="2773841"/>
          </a:xfrm>
        </p:grpSpPr>
        <p:cxnSp>
          <p:nvCxnSpPr>
            <p:cNvPr id="39" name="Straight Connector 38">
              <a:extLst>
                <a:ext uri="{FF2B5EF4-FFF2-40B4-BE49-F238E27FC236}">
                  <a16:creationId xmlns:a16="http://schemas.microsoft.com/office/drawing/2014/main" id="{046D4DF8-1672-4FA2-9826-FE37087C6A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B7A5B2F-EC14-4482-85C2-E1320F14D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F6FC815-E502-44E9-B346-1E771A5E2E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1DCBABB-A77B-43CF-94EF-B785F32C4F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04339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15"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A screenshot of a computer&#10;&#10;Description automatically generated">
            <a:extLst>
              <a:ext uri="{FF2B5EF4-FFF2-40B4-BE49-F238E27FC236}">
                <a16:creationId xmlns:a16="http://schemas.microsoft.com/office/drawing/2014/main" id="{C13E0BC3-40D0-3E53-1A27-EBA9C6723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3647" y="1083852"/>
            <a:ext cx="4730214" cy="4690295"/>
          </a:xfrm>
          <a:prstGeom prst="rect">
            <a:avLst/>
          </a:prstGeom>
        </p:spPr>
      </p:pic>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B7088E8-0A4B-F67C-6E78-EF967106491C}"/>
              </a:ext>
            </a:extLst>
          </p:cNvPr>
          <p:cNvSpPr>
            <a:spLocks noGrp="1"/>
          </p:cNvSpPr>
          <p:nvPr>
            <p:ph type="title"/>
          </p:nvPr>
        </p:nvSpPr>
        <p:spPr>
          <a:xfrm>
            <a:off x="786384" y="841249"/>
            <a:ext cx="5692953" cy="2587131"/>
          </a:xfrm>
        </p:spPr>
        <p:txBody>
          <a:bodyPr anchor="b">
            <a:normAutofit/>
          </a:bodyPr>
          <a:lstStyle/>
          <a:p>
            <a:r>
              <a:rPr lang="en-US" sz="4800">
                <a:solidFill>
                  <a:schemeClr val="bg1"/>
                </a:solidFill>
              </a:rPr>
              <a:t>Question 6</a:t>
            </a:r>
          </a:p>
        </p:txBody>
      </p:sp>
      <p:sp>
        <p:nvSpPr>
          <p:cNvPr id="3" name="Content Placeholder 2">
            <a:extLst>
              <a:ext uri="{FF2B5EF4-FFF2-40B4-BE49-F238E27FC236}">
                <a16:creationId xmlns:a16="http://schemas.microsoft.com/office/drawing/2014/main" id="{CE9E6509-45AF-12AA-E2B2-56D891FC2FEA}"/>
              </a:ext>
            </a:extLst>
          </p:cNvPr>
          <p:cNvSpPr>
            <a:spLocks noGrp="1"/>
          </p:cNvSpPr>
          <p:nvPr>
            <p:ph idx="1"/>
          </p:nvPr>
        </p:nvSpPr>
        <p:spPr>
          <a:xfrm>
            <a:off x="786383" y="3566810"/>
            <a:ext cx="5692953" cy="2651110"/>
          </a:xfrm>
        </p:spPr>
        <p:txBody>
          <a:bodyPr anchor="ctr">
            <a:normAutofit/>
          </a:bodyPr>
          <a:lstStyle/>
          <a:p>
            <a:pPr marL="0" indent="0">
              <a:buNone/>
            </a:pPr>
            <a:r>
              <a:rPr lang="en-US" sz="1800">
                <a:solidFill>
                  <a:schemeClr val="tx2"/>
                </a:solidFill>
              </a:rPr>
              <a:t>select dismissal_kind, count(*) as dismissals_totals from deliveries where  dismissal_kind != 'NA' Group by dismissal_kind;</a:t>
            </a:r>
          </a:p>
          <a:p>
            <a:pPr marL="0" indent="0">
              <a:buNone/>
            </a:pPr>
            <a:endParaRPr lang="en-US" sz="1800">
              <a:solidFill>
                <a:schemeClr val="tx2"/>
              </a:solidFill>
            </a:endParaRPr>
          </a:p>
          <a:p>
            <a:pPr marL="0" indent="0">
              <a:buNone/>
            </a:pPr>
            <a:endParaRPr lang="en-US" sz="1800">
              <a:solidFill>
                <a:schemeClr val="tx2"/>
              </a:solidFill>
            </a:endParaRPr>
          </a:p>
        </p:txBody>
      </p:sp>
    </p:spTree>
    <p:extLst>
      <p:ext uri="{BB962C8B-B14F-4D97-AF65-F5344CB8AC3E}">
        <p14:creationId xmlns:p14="http://schemas.microsoft.com/office/powerpoint/2010/main" val="618929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D5E267-EB6F-47DF-ABEF-2C1BED44DA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3" name="Color Cover">
              <a:extLst>
                <a:ext uri="{FF2B5EF4-FFF2-40B4-BE49-F238E27FC236}">
                  <a16:creationId xmlns:a16="http://schemas.microsoft.com/office/drawing/2014/main" id="{4BA86AA3-0623-4268-861E-ADA01A7C0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Cover">
              <a:extLst>
                <a:ext uri="{FF2B5EF4-FFF2-40B4-BE49-F238E27FC236}">
                  <a16:creationId xmlns:a16="http://schemas.microsoft.com/office/drawing/2014/main" id="{72692EF2-4C1F-4ED7-9C00-6CF92783E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66828D02-A05D-412B-9F20-B68E970B9F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7" name="Color">
              <a:extLst>
                <a:ext uri="{FF2B5EF4-FFF2-40B4-BE49-F238E27FC236}">
                  <a16:creationId xmlns:a16="http://schemas.microsoft.com/office/drawing/2014/main" id="{A1A8E50E-11DE-480E-A93B-F503760BC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a:extLst>
                <a:ext uri="{FF2B5EF4-FFF2-40B4-BE49-F238E27FC236}">
                  <a16:creationId xmlns:a16="http://schemas.microsoft.com/office/drawing/2014/main" id="{D2E2EE99-89A4-435B-B61A-3C8B5B2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A screenshot of a computer&#10;&#10;Description automatically generated">
            <a:extLst>
              <a:ext uri="{FF2B5EF4-FFF2-40B4-BE49-F238E27FC236}">
                <a16:creationId xmlns:a16="http://schemas.microsoft.com/office/drawing/2014/main" id="{DA6897BF-847E-80FC-8133-ADBF3EB41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7026" y="1812300"/>
            <a:ext cx="4571936" cy="3210082"/>
          </a:xfrm>
          <a:prstGeom prst="rect">
            <a:avLst/>
          </a:prstGeom>
        </p:spPr>
      </p:pic>
      <p:grpSp>
        <p:nvGrpSpPr>
          <p:cNvPr id="20" name="Group 19">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5A62F67-AFD1-9F97-FEAC-6838E1F1E530}"/>
              </a:ext>
            </a:extLst>
          </p:cNvPr>
          <p:cNvSpPr>
            <a:spLocks noGrp="1"/>
          </p:cNvSpPr>
          <p:nvPr>
            <p:ph type="title"/>
          </p:nvPr>
        </p:nvSpPr>
        <p:spPr>
          <a:xfrm>
            <a:off x="1014985" y="819015"/>
            <a:ext cx="5501548" cy="2353362"/>
          </a:xfrm>
        </p:spPr>
        <p:txBody>
          <a:bodyPr anchor="b">
            <a:normAutofit/>
          </a:bodyPr>
          <a:lstStyle/>
          <a:p>
            <a:r>
              <a:rPr lang="en-US" sz="4800">
                <a:solidFill>
                  <a:schemeClr val="bg1"/>
                </a:solidFill>
              </a:rPr>
              <a:t>Question 7</a:t>
            </a:r>
          </a:p>
        </p:txBody>
      </p:sp>
      <p:sp>
        <p:nvSpPr>
          <p:cNvPr id="3" name="Content Placeholder 2">
            <a:extLst>
              <a:ext uri="{FF2B5EF4-FFF2-40B4-BE49-F238E27FC236}">
                <a16:creationId xmlns:a16="http://schemas.microsoft.com/office/drawing/2014/main" id="{5F9409FD-0443-3DA4-6836-2A8241BB047F}"/>
              </a:ext>
            </a:extLst>
          </p:cNvPr>
          <p:cNvSpPr>
            <a:spLocks noGrp="1"/>
          </p:cNvSpPr>
          <p:nvPr>
            <p:ph idx="1"/>
          </p:nvPr>
        </p:nvSpPr>
        <p:spPr>
          <a:xfrm>
            <a:off x="1014985" y="3442089"/>
            <a:ext cx="5501548" cy="2573579"/>
          </a:xfrm>
        </p:spPr>
        <p:txBody>
          <a:bodyPr anchor="t">
            <a:normAutofit/>
          </a:bodyPr>
          <a:lstStyle/>
          <a:p>
            <a:pPr marL="0" indent="0">
              <a:buNone/>
            </a:pPr>
            <a:r>
              <a:rPr lang="en-US" sz="1800">
                <a:solidFill>
                  <a:schemeClr val="bg1"/>
                </a:solidFill>
              </a:rPr>
              <a:t>select bowler, sum(extra_runs) as total_of_extra_runs from deliveries Group by bowler order by total_of_extra_runs Desc Limit 5;</a:t>
            </a:r>
          </a:p>
          <a:p>
            <a:pPr marL="0" indent="0">
              <a:buNone/>
            </a:pPr>
            <a:endParaRPr lang="en-US" sz="1800">
              <a:solidFill>
                <a:schemeClr val="bg1"/>
              </a:solidFill>
            </a:endParaRPr>
          </a:p>
        </p:txBody>
      </p:sp>
    </p:spTree>
    <p:extLst>
      <p:ext uri="{BB962C8B-B14F-4D97-AF65-F5344CB8AC3E}">
        <p14:creationId xmlns:p14="http://schemas.microsoft.com/office/powerpoint/2010/main" val="4276380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DF81-9846-AC06-0BFA-9F5B01F54A6D}"/>
              </a:ext>
            </a:extLst>
          </p:cNvPr>
          <p:cNvSpPr>
            <a:spLocks noGrp="1"/>
          </p:cNvSpPr>
          <p:nvPr>
            <p:ph type="title"/>
          </p:nvPr>
        </p:nvSpPr>
        <p:spPr/>
        <p:txBody>
          <a:bodyPr/>
          <a:lstStyle/>
          <a:p>
            <a:r>
              <a:rPr lang="en-US" dirty="0"/>
              <a:t>Question 8</a:t>
            </a:r>
          </a:p>
        </p:txBody>
      </p:sp>
      <p:sp>
        <p:nvSpPr>
          <p:cNvPr id="3" name="Content Placeholder 2">
            <a:extLst>
              <a:ext uri="{FF2B5EF4-FFF2-40B4-BE49-F238E27FC236}">
                <a16:creationId xmlns:a16="http://schemas.microsoft.com/office/drawing/2014/main" id="{4E6ACB82-6F0D-022F-7632-CC9FDD5D4D21}"/>
              </a:ext>
            </a:extLst>
          </p:cNvPr>
          <p:cNvSpPr>
            <a:spLocks noGrp="1"/>
          </p:cNvSpPr>
          <p:nvPr>
            <p:ph idx="1"/>
          </p:nvPr>
        </p:nvSpPr>
        <p:spPr/>
        <p:txBody>
          <a:bodyPr/>
          <a:lstStyle/>
          <a:p>
            <a:pPr marL="0" indent="0">
              <a:buNone/>
            </a:pPr>
            <a:r>
              <a:rPr lang="en-US" dirty="0"/>
              <a:t>create table deliveries_v03 as select a.*, </a:t>
            </a:r>
            <a:r>
              <a:rPr lang="en-US" dirty="0" err="1"/>
              <a:t>b.venue</a:t>
            </a:r>
            <a:r>
              <a:rPr lang="en-US" dirty="0"/>
              <a:t>, </a:t>
            </a:r>
            <a:r>
              <a:rPr lang="en-US" dirty="0" err="1"/>
              <a:t>b.date</a:t>
            </a:r>
            <a:r>
              <a:rPr lang="en-US" dirty="0"/>
              <a:t> as </a:t>
            </a:r>
            <a:r>
              <a:rPr lang="en-US" dirty="0" err="1"/>
              <a:t>match_date</a:t>
            </a:r>
            <a:r>
              <a:rPr lang="en-US" dirty="0"/>
              <a:t> from deliveries_v02 </a:t>
            </a:r>
            <a:r>
              <a:rPr lang="en-US" dirty="0" err="1"/>
              <a:t>ajoin</a:t>
            </a:r>
            <a:r>
              <a:rPr lang="en-US" dirty="0"/>
              <a:t> ipl_matches1 b ON a.id = b.id;</a:t>
            </a:r>
          </a:p>
          <a:p>
            <a:pPr marL="0" indent="0">
              <a:buNone/>
            </a:pPr>
            <a:r>
              <a:rPr lang="en-US" dirty="0"/>
              <a:t>select * from deliveries_v03;</a:t>
            </a:r>
          </a:p>
        </p:txBody>
      </p:sp>
    </p:spTree>
    <p:extLst>
      <p:ext uri="{BB962C8B-B14F-4D97-AF65-F5344CB8AC3E}">
        <p14:creationId xmlns:p14="http://schemas.microsoft.com/office/powerpoint/2010/main" val="1147087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84E90EEA-1A77-D41F-AB1E-9095D55847F1}"/>
              </a:ext>
            </a:extLst>
          </p:cNvPr>
          <p:cNvSpPr>
            <a:spLocks noGrp="1"/>
          </p:cNvSpPr>
          <p:nvPr>
            <p:ph type="title"/>
          </p:nvPr>
        </p:nvSpPr>
        <p:spPr>
          <a:xfrm>
            <a:off x="1246824" y="643467"/>
            <a:ext cx="4772975" cy="1800526"/>
          </a:xfrm>
        </p:spPr>
        <p:txBody>
          <a:bodyPr>
            <a:normAutofit/>
          </a:bodyPr>
          <a:lstStyle/>
          <a:p>
            <a:r>
              <a:rPr lang="en-US"/>
              <a:t>Question 9</a:t>
            </a:r>
            <a:endParaRPr lang="en-US" dirty="0"/>
          </a:p>
        </p:txBody>
      </p:sp>
      <p:sp>
        <p:nvSpPr>
          <p:cNvPr id="3" name="Content Placeholder 2">
            <a:extLst>
              <a:ext uri="{FF2B5EF4-FFF2-40B4-BE49-F238E27FC236}">
                <a16:creationId xmlns:a16="http://schemas.microsoft.com/office/drawing/2014/main" id="{ED5FBD2D-9315-74EE-2B59-C965CA4EA5DF}"/>
              </a:ext>
            </a:extLst>
          </p:cNvPr>
          <p:cNvSpPr>
            <a:spLocks noGrp="1"/>
          </p:cNvSpPr>
          <p:nvPr>
            <p:ph idx="1"/>
          </p:nvPr>
        </p:nvSpPr>
        <p:spPr>
          <a:xfrm>
            <a:off x="1246824" y="2623381"/>
            <a:ext cx="4772974" cy="3553581"/>
          </a:xfrm>
        </p:spPr>
        <p:txBody>
          <a:bodyPr>
            <a:normAutofit/>
          </a:bodyPr>
          <a:lstStyle/>
          <a:p>
            <a:pPr marL="0" indent="0">
              <a:buNone/>
            </a:pPr>
            <a:r>
              <a:rPr lang="en-US" sz="2000" dirty="0"/>
              <a:t>select venue, sum(</a:t>
            </a:r>
            <a:r>
              <a:rPr lang="en-US" sz="2000" dirty="0" err="1"/>
              <a:t>total_runs</a:t>
            </a:r>
            <a:r>
              <a:rPr lang="en-US" sz="2000" dirty="0"/>
              <a:t>) as </a:t>
            </a:r>
            <a:r>
              <a:rPr lang="en-US" sz="2000" dirty="0" err="1"/>
              <a:t>total_runsfrom</a:t>
            </a:r>
            <a:r>
              <a:rPr lang="en-US" sz="2000" dirty="0"/>
              <a:t> deliveries_v03 Group by venue order by </a:t>
            </a:r>
            <a:r>
              <a:rPr lang="en-US" sz="2000" dirty="0" err="1"/>
              <a:t>total_runs</a:t>
            </a:r>
            <a:r>
              <a:rPr lang="en-US" sz="2000" dirty="0"/>
              <a:t> DESC;</a:t>
            </a:r>
          </a:p>
          <a:p>
            <a:pPr marL="0" indent="0">
              <a:buNone/>
            </a:pPr>
            <a:endParaRPr lang="en-US" sz="2000" dirty="0"/>
          </a:p>
        </p:txBody>
      </p:sp>
      <p:pic>
        <p:nvPicPr>
          <p:cNvPr id="7" name="Picture 6" descr="A screenshot of a computer&#10;&#10;Description automatically generated">
            <a:extLst>
              <a:ext uri="{FF2B5EF4-FFF2-40B4-BE49-F238E27FC236}">
                <a16:creationId xmlns:a16="http://schemas.microsoft.com/office/drawing/2014/main" id="{D8EAE227-0CF6-B25E-4806-7EBCC459B9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8137" y="4700292"/>
            <a:ext cx="4591801" cy="1632967"/>
          </a:xfrm>
          <a:prstGeom prst="rect">
            <a:avLst/>
          </a:prstGeom>
        </p:spPr>
      </p:pic>
      <p:pic>
        <p:nvPicPr>
          <p:cNvPr id="5" name="Picture 4" descr="A table of sports information&#10;&#10;Description automatically generated with medium confidence">
            <a:extLst>
              <a:ext uri="{FF2B5EF4-FFF2-40B4-BE49-F238E27FC236}">
                <a16:creationId xmlns:a16="http://schemas.microsoft.com/office/drawing/2014/main" id="{D4336242-C0B7-5818-2057-259412414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3517" y="37871"/>
            <a:ext cx="4216199" cy="4893242"/>
          </a:xfrm>
          <a:prstGeom prst="rect">
            <a:avLst/>
          </a:prstGeom>
        </p:spPr>
      </p:pic>
    </p:spTree>
    <p:extLst>
      <p:ext uri="{BB962C8B-B14F-4D97-AF65-F5344CB8AC3E}">
        <p14:creationId xmlns:p14="http://schemas.microsoft.com/office/powerpoint/2010/main" val="2666133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D5E267-EB6F-47DF-ABEF-2C1BED44DA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3" name="Color Cover">
              <a:extLst>
                <a:ext uri="{FF2B5EF4-FFF2-40B4-BE49-F238E27FC236}">
                  <a16:creationId xmlns:a16="http://schemas.microsoft.com/office/drawing/2014/main" id="{4BA86AA3-0623-4268-861E-ADA01A7C0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Cover">
              <a:extLst>
                <a:ext uri="{FF2B5EF4-FFF2-40B4-BE49-F238E27FC236}">
                  <a16:creationId xmlns:a16="http://schemas.microsoft.com/office/drawing/2014/main" id="{72692EF2-4C1F-4ED7-9C00-6CF92783E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66828D02-A05D-412B-9F20-B68E970B9F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7" name="Color">
              <a:extLst>
                <a:ext uri="{FF2B5EF4-FFF2-40B4-BE49-F238E27FC236}">
                  <a16:creationId xmlns:a16="http://schemas.microsoft.com/office/drawing/2014/main" id="{A1A8E50E-11DE-480E-A93B-F503760BC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a:extLst>
                <a:ext uri="{FF2B5EF4-FFF2-40B4-BE49-F238E27FC236}">
                  <a16:creationId xmlns:a16="http://schemas.microsoft.com/office/drawing/2014/main" id="{D2E2EE99-89A4-435B-B61A-3C8B5B2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A screenshot of a computer&#10;&#10;Description automatically generated">
            <a:extLst>
              <a:ext uri="{FF2B5EF4-FFF2-40B4-BE49-F238E27FC236}">
                <a16:creationId xmlns:a16="http://schemas.microsoft.com/office/drawing/2014/main" id="{BE721FCC-699A-9A24-46C5-19A5817DB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6534" y="745275"/>
            <a:ext cx="4708948" cy="5196653"/>
          </a:xfrm>
          <a:prstGeom prst="rect">
            <a:avLst/>
          </a:prstGeom>
        </p:spPr>
      </p:pic>
      <p:grpSp>
        <p:nvGrpSpPr>
          <p:cNvPr id="20" name="Group 19">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1E15098-D3C7-5203-696E-3FF253D73D5C}"/>
              </a:ext>
            </a:extLst>
          </p:cNvPr>
          <p:cNvSpPr>
            <a:spLocks noGrp="1"/>
          </p:cNvSpPr>
          <p:nvPr>
            <p:ph type="title"/>
          </p:nvPr>
        </p:nvSpPr>
        <p:spPr>
          <a:xfrm>
            <a:off x="1014985" y="819015"/>
            <a:ext cx="5501548" cy="2353362"/>
          </a:xfrm>
        </p:spPr>
        <p:txBody>
          <a:bodyPr anchor="b">
            <a:normAutofit/>
          </a:bodyPr>
          <a:lstStyle/>
          <a:p>
            <a:r>
              <a:rPr lang="en-US" sz="4800">
                <a:solidFill>
                  <a:schemeClr val="bg1"/>
                </a:solidFill>
              </a:rPr>
              <a:t>Question 10</a:t>
            </a:r>
          </a:p>
        </p:txBody>
      </p:sp>
      <p:sp>
        <p:nvSpPr>
          <p:cNvPr id="3" name="Content Placeholder 2">
            <a:extLst>
              <a:ext uri="{FF2B5EF4-FFF2-40B4-BE49-F238E27FC236}">
                <a16:creationId xmlns:a16="http://schemas.microsoft.com/office/drawing/2014/main" id="{AB9C06FA-0774-734E-2655-DD2F0C1748F9}"/>
              </a:ext>
            </a:extLst>
          </p:cNvPr>
          <p:cNvSpPr>
            <a:spLocks noGrp="1"/>
          </p:cNvSpPr>
          <p:nvPr>
            <p:ph idx="1"/>
          </p:nvPr>
        </p:nvSpPr>
        <p:spPr>
          <a:xfrm>
            <a:off x="1014985" y="3442089"/>
            <a:ext cx="5501548" cy="2573579"/>
          </a:xfrm>
        </p:spPr>
        <p:txBody>
          <a:bodyPr anchor="t">
            <a:normAutofit/>
          </a:bodyPr>
          <a:lstStyle/>
          <a:p>
            <a:r>
              <a:rPr lang="en-US" sz="1800" dirty="0">
                <a:solidFill>
                  <a:schemeClr val="bg1"/>
                </a:solidFill>
              </a:rPr>
              <a:t>Select extract(YEAR FROM </a:t>
            </a:r>
            <a:r>
              <a:rPr lang="en-US" sz="1800" dirty="0" err="1">
                <a:solidFill>
                  <a:schemeClr val="bg1"/>
                </a:solidFill>
              </a:rPr>
              <a:t>match_date</a:t>
            </a:r>
            <a:r>
              <a:rPr lang="en-US" sz="1800" dirty="0">
                <a:solidFill>
                  <a:schemeClr val="bg1"/>
                </a:solidFill>
              </a:rPr>
              <a:t>) as year, sum(</a:t>
            </a:r>
            <a:r>
              <a:rPr lang="en-US" sz="1800" dirty="0" err="1">
                <a:solidFill>
                  <a:schemeClr val="bg1"/>
                </a:solidFill>
              </a:rPr>
              <a:t>total_runs</a:t>
            </a:r>
            <a:r>
              <a:rPr lang="en-US" sz="1800" dirty="0">
                <a:solidFill>
                  <a:schemeClr val="bg1"/>
                </a:solidFill>
              </a:rPr>
              <a:t>) as </a:t>
            </a:r>
            <a:r>
              <a:rPr lang="en-US" sz="1800" dirty="0" err="1">
                <a:solidFill>
                  <a:schemeClr val="bg1"/>
                </a:solidFill>
              </a:rPr>
              <a:t>total_runsfrom</a:t>
            </a:r>
            <a:r>
              <a:rPr lang="en-US" sz="1800" dirty="0">
                <a:solidFill>
                  <a:schemeClr val="bg1"/>
                </a:solidFill>
              </a:rPr>
              <a:t> deliveries_v03where venue = 'Eden </a:t>
            </a:r>
            <a:r>
              <a:rPr lang="en-US" sz="1800" dirty="0" err="1">
                <a:solidFill>
                  <a:schemeClr val="bg1"/>
                </a:solidFill>
              </a:rPr>
              <a:t>Gardens'Group</a:t>
            </a:r>
            <a:r>
              <a:rPr lang="en-US" sz="1800" dirty="0">
                <a:solidFill>
                  <a:schemeClr val="bg1"/>
                </a:solidFill>
              </a:rPr>
              <a:t> by year order by </a:t>
            </a:r>
            <a:r>
              <a:rPr lang="en-US" sz="1800" dirty="0" err="1">
                <a:solidFill>
                  <a:schemeClr val="bg1"/>
                </a:solidFill>
              </a:rPr>
              <a:t>total_runs</a:t>
            </a:r>
            <a:r>
              <a:rPr lang="en-US" sz="1800" dirty="0">
                <a:solidFill>
                  <a:schemeClr val="bg1"/>
                </a:solidFill>
              </a:rPr>
              <a:t> Desc;</a:t>
            </a:r>
          </a:p>
          <a:p>
            <a:endParaRPr lang="en-US" sz="1800" dirty="0">
              <a:solidFill>
                <a:schemeClr val="bg1"/>
              </a:solidFill>
            </a:endParaRPr>
          </a:p>
          <a:p>
            <a:endParaRPr lang="en-US" sz="1800" dirty="0">
              <a:solidFill>
                <a:schemeClr val="bg1"/>
              </a:solidFill>
            </a:endParaRPr>
          </a:p>
        </p:txBody>
      </p:sp>
    </p:spTree>
    <p:extLst>
      <p:ext uri="{BB962C8B-B14F-4D97-AF65-F5344CB8AC3E}">
        <p14:creationId xmlns:p14="http://schemas.microsoft.com/office/powerpoint/2010/main" val="116945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3276</TotalTime>
  <Words>3304</Words>
  <Application>Microsoft Office PowerPoint</Application>
  <PresentationFormat>Widescreen</PresentationFormat>
  <Paragraphs>117</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Arial</vt:lpstr>
      <vt:lpstr>Calibri</vt:lpstr>
      <vt:lpstr>Comic Sans MS</vt:lpstr>
      <vt:lpstr>Georgia</vt:lpstr>
      <vt:lpstr>Wingdings</vt:lpstr>
      <vt:lpstr>Office Theme</vt:lpstr>
      <vt:lpstr>SQL PROJECT</vt:lpstr>
      <vt:lpstr>Creating the table</vt:lpstr>
      <vt:lpstr>First Priority  to get 2-3 players with high Strike Rate who have faced at least 500 balls</vt:lpstr>
      <vt:lpstr>First Priority codes </vt:lpstr>
      <vt:lpstr>Visual representation of charts and tables</vt:lpstr>
      <vt:lpstr>2-3 players with good average and must have played 2 ipl season.</vt:lpstr>
      <vt:lpstr>Codes for 2-3 players with good average and must have played 2 ipl season.</vt:lpstr>
      <vt:lpstr>Codes for 2-3 players with good average and must have played 2 ipl season.</vt:lpstr>
      <vt:lpstr>Visual representation of charts and tables</vt:lpstr>
      <vt:lpstr>2-3 Hard-hitting players who have scored most runs in boundaries and have played more than 2 ipl season</vt:lpstr>
      <vt:lpstr>Code for 2-3 Hard-hitting players who have scored most runs in boundaries and have played more the 2 ipl season.</vt:lpstr>
      <vt:lpstr>Visualization: Table and charts for hard-hitters</vt:lpstr>
      <vt:lpstr>First priority is to get 2-3 bowlers with good economy who have bowled at least 500 balls in IPL .</vt:lpstr>
      <vt:lpstr>Code for First priority is to get 2-3 bowlers with good economy who have bowled at least 500 balls in IPL .</vt:lpstr>
      <vt:lpstr>Visualization: charts and table for bowlers</vt:lpstr>
      <vt:lpstr>The objective is to find 2-3 bowlers who have the best strike rate and have bowled at least 500 deliveries in the IPL. </vt:lpstr>
      <vt:lpstr>The code to find 2-3 bowlers who have the best strike rate and have bowled at least 500 deliveries in the IPL. </vt:lpstr>
      <vt:lpstr>Visualization: charts and table for bowlers with best strike. </vt:lpstr>
      <vt:lpstr>To get 2-3 All_rounders with the best batting as well as bowling strike rate and who have faced at least 500 balls in IPL so far and have bowled minimum 300 balls</vt:lpstr>
      <vt:lpstr>Code to get 2-3 All_rounders with the best batting as well as bowling strike rate and who have faced at least 500 balls in IPL so far and have bowled minimum 300 balls</vt:lpstr>
      <vt:lpstr>Visualization: Table and charts for All_Rounders</vt:lpstr>
      <vt:lpstr>Wicketkeepers Criteria for the best two wicket keepers</vt:lpstr>
      <vt:lpstr>Additional Questions for final assessment</vt:lpstr>
      <vt:lpstr>Additional Questions for final assessment</vt:lpstr>
      <vt:lpstr>Question 3 </vt:lpstr>
      <vt:lpstr>Question 4</vt:lpstr>
      <vt:lpstr>Question 5 </vt:lpstr>
      <vt:lpstr>Question 6</vt:lpstr>
      <vt:lpstr>Question 7</vt:lpstr>
      <vt:lpstr>Question 8</vt:lpstr>
      <vt:lpstr>Question 9</vt:lpstr>
      <vt:lpstr>Question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Chukwuemeka Reginald NKWOCHA</dc:creator>
  <cp:lastModifiedBy>Chukwuemeka Reginald NKWOCHA</cp:lastModifiedBy>
  <cp:revision>49</cp:revision>
  <dcterms:created xsi:type="dcterms:W3CDTF">2024-07-16T13:10:01Z</dcterms:created>
  <dcterms:modified xsi:type="dcterms:W3CDTF">2024-07-19T07:45:01Z</dcterms:modified>
</cp:coreProperties>
</file>